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8baccac0e41fa" /><Relationship Type="http://schemas.openxmlformats.org/officeDocument/2006/relationships/extended-properties" Target="/docProps/app.xml" Id="R68bc8079301a48ca" /><Relationship Type="http://schemas.openxmlformats.org/officeDocument/2006/relationships/officeDocument" Target="/ppt/presentation.xml" Id="R8c645716f17547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61b4c6f084c85"/>
  </p:sldMasterIdLst>
  <p:notesMasterIdLst>
    <p:notesMasterId xmlns:r="http://schemas.openxmlformats.org/officeDocument/2006/relationships" r:id="R902038a885e542de"/>
  </p:notesMasterIdLst>
  <p:sldIdLst>
    <p:sldId xmlns:r="http://schemas.openxmlformats.org/officeDocument/2006/relationships" id="256" r:id="R5bc55586d6eb4380"/>
    <p:sldId xmlns:r="http://schemas.openxmlformats.org/officeDocument/2006/relationships" id="257" r:id="Ra9d1651a1ca34718"/>
    <p:sldId xmlns:r="http://schemas.openxmlformats.org/officeDocument/2006/relationships" id="258" r:id="R5566fc8861554ed5"/>
    <p:sldId xmlns:r="http://schemas.openxmlformats.org/officeDocument/2006/relationships" id="259" r:id="Rde4cfb6f59dd4ba1"/>
    <p:sldId xmlns:r="http://schemas.openxmlformats.org/officeDocument/2006/relationships" id="260" r:id="R1c290b8ae6524eb1"/>
    <p:sldId xmlns:r="http://schemas.openxmlformats.org/officeDocument/2006/relationships" id="261" r:id="R577bd1647a4c43d0"/>
    <p:sldId xmlns:r="http://schemas.openxmlformats.org/officeDocument/2006/relationships" id="262" r:id="Rd090ec7419784c00"/>
    <p:sldId xmlns:r="http://schemas.openxmlformats.org/officeDocument/2006/relationships" id="263" r:id="Rf0af78b1cd574678"/>
    <p:sldId xmlns:r="http://schemas.openxmlformats.org/officeDocument/2006/relationships" id="264" r:id="R561408332bf148aa"/>
    <p:sldId xmlns:r="http://schemas.openxmlformats.org/officeDocument/2006/relationships" id="265" r:id="R53c1f69f5a354bbc"/>
    <p:sldId xmlns:r="http://schemas.openxmlformats.org/officeDocument/2006/relationships" id="266" r:id="R59c46e5b483142ae"/>
    <p:sldId xmlns:r="http://schemas.openxmlformats.org/officeDocument/2006/relationships" id="267" r:id="R2f06f7177f6243f9"/>
    <p:sldId xmlns:r="http://schemas.openxmlformats.org/officeDocument/2006/relationships" id="268" r:id="R0b3dc6d1e4384451"/>
    <p:sldId xmlns:r="http://schemas.openxmlformats.org/officeDocument/2006/relationships" id="269" r:id="Re3884a735083441e"/>
    <p:sldId xmlns:r="http://schemas.openxmlformats.org/officeDocument/2006/relationships" id="270" r:id="R26e6cbffff664c10"/>
    <p:sldId xmlns:r="http://schemas.openxmlformats.org/officeDocument/2006/relationships" id="271" r:id="Ra1005c502c064cda"/>
    <p:sldId xmlns:r="http://schemas.openxmlformats.org/officeDocument/2006/relationships" id="272" r:id="Rdfe404982bd047ba"/>
    <p:sldId xmlns:r="http://schemas.openxmlformats.org/officeDocument/2006/relationships" id="273" r:id="R192a798ebf754003"/>
    <p:sldId xmlns:r="http://schemas.openxmlformats.org/officeDocument/2006/relationships" id="274" r:id="Rabc290c28d0a440d"/>
    <p:sldId xmlns:r="http://schemas.openxmlformats.org/officeDocument/2006/relationships" id="275" r:id="R4c1ff1ea85304747"/>
    <p:sldId xmlns:r="http://schemas.openxmlformats.org/officeDocument/2006/relationships" id="276" r:id="R0622063a98e24e85"/>
    <p:sldId xmlns:r="http://schemas.openxmlformats.org/officeDocument/2006/relationships" id="277" r:id="Re8338095be1340c9"/>
    <p:sldId xmlns:r="http://schemas.openxmlformats.org/officeDocument/2006/relationships" id="278" r:id="Rd4b285eb7b9149d6"/>
    <p:sldId xmlns:r="http://schemas.openxmlformats.org/officeDocument/2006/relationships" id="279" r:id="Rbd1d17fd6b9c4ea7"/>
    <p:sldId xmlns:r="http://schemas.openxmlformats.org/officeDocument/2006/relationships" id="280" r:id="R1ece1b29f53049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986684aeaf42f7" /><Relationship Type="http://schemas.openxmlformats.org/officeDocument/2006/relationships/slideMaster" Target="/ppt/slideMasters/slideMaster1.xml" Id="Rac561b4c6f084c85" /><Relationship Type="http://schemas.openxmlformats.org/officeDocument/2006/relationships/notesMaster" Target="/ppt/notesMasters/notesMaster1.xml" Id="R902038a885e542de" /><Relationship Type="http://schemas.openxmlformats.org/officeDocument/2006/relationships/presProps" Target="/ppt/presProps.xml" Id="R3f090b1a74934dfa" /><Relationship Type="http://schemas.openxmlformats.org/officeDocument/2006/relationships/tableStyles" Target="/ppt/tableStyles.xml" Id="Raaf04183e1fb483c" /><Relationship Type="http://schemas.openxmlformats.org/officeDocument/2006/relationships/slide" Target="/ppt/slides/slide1.xml" Id="R5bc55586d6eb4380" /><Relationship Type="http://schemas.openxmlformats.org/officeDocument/2006/relationships/slide" Target="/ppt/slides/slide2.xml" Id="Ra9d1651a1ca34718" /><Relationship Type="http://schemas.openxmlformats.org/officeDocument/2006/relationships/slide" Target="/ppt/slides/slide3.xml" Id="R5566fc8861554ed5" /><Relationship Type="http://schemas.openxmlformats.org/officeDocument/2006/relationships/slide" Target="/ppt/slides/slide4.xml" Id="Rde4cfb6f59dd4ba1" /><Relationship Type="http://schemas.openxmlformats.org/officeDocument/2006/relationships/slide" Target="/ppt/slides/slide5.xml" Id="R1c290b8ae6524eb1" /><Relationship Type="http://schemas.openxmlformats.org/officeDocument/2006/relationships/slide" Target="/ppt/slides/slide6.xml" Id="R577bd1647a4c43d0" /><Relationship Type="http://schemas.openxmlformats.org/officeDocument/2006/relationships/slide" Target="/ppt/slides/slide7.xml" Id="Rd090ec7419784c00" /><Relationship Type="http://schemas.openxmlformats.org/officeDocument/2006/relationships/slide" Target="/ppt/slides/slide8.xml" Id="Rf0af78b1cd574678" /><Relationship Type="http://schemas.openxmlformats.org/officeDocument/2006/relationships/slide" Target="/ppt/slides/slide9.xml" Id="R561408332bf148aa" /><Relationship Type="http://schemas.openxmlformats.org/officeDocument/2006/relationships/slide" Target="/ppt/slides/slide10.xml" Id="R53c1f69f5a354bbc" /><Relationship Type="http://schemas.openxmlformats.org/officeDocument/2006/relationships/slide" Target="/ppt/slides/slide11.xml" Id="R59c46e5b483142ae" /><Relationship Type="http://schemas.openxmlformats.org/officeDocument/2006/relationships/slide" Target="/ppt/slides/slide12.xml" Id="R2f06f7177f6243f9" /><Relationship Type="http://schemas.openxmlformats.org/officeDocument/2006/relationships/slide" Target="/ppt/slides/slide13.xml" Id="R0b3dc6d1e4384451" /><Relationship Type="http://schemas.openxmlformats.org/officeDocument/2006/relationships/slide" Target="/ppt/slides/slide14.xml" Id="Re3884a735083441e" /><Relationship Type="http://schemas.openxmlformats.org/officeDocument/2006/relationships/slide" Target="/ppt/slides/slide15.xml" Id="R26e6cbffff664c10" /><Relationship Type="http://schemas.openxmlformats.org/officeDocument/2006/relationships/slide" Target="/ppt/slides/slide16.xml" Id="Ra1005c502c064cda" /><Relationship Type="http://schemas.openxmlformats.org/officeDocument/2006/relationships/slide" Target="/ppt/slides/slide17.xml" Id="Rdfe404982bd047ba" /><Relationship Type="http://schemas.openxmlformats.org/officeDocument/2006/relationships/slide" Target="/ppt/slides/slide18.xml" Id="R192a798ebf754003" /><Relationship Type="http://schemas.openxmlformats.org/officeDocument/2006/relationships/slide" Target="/ppt/slides/slide19.xml" Id="Rabc290c28d0a440d" /><Relationship Type="http://schemas.openxmlformats.org/officeDocument/2006/relationships/slide" Target="/ppt/slides/slide20.xml" Id="R4c1ff1ea85304747" /><Relationship Type="http://schemas.openxmlformats.org/officeDocument/2006/relationships/slide" Target="/ppt/slides/slide21.xml" Id="R0622063a98e24e85" /><Relationship Type="http://schemas.openxmlformats.org/officeDocument/2006/relationships/slide" Target="/ppt/slides/slide22.xml" Id="Re8338095be1340c9" /><Relationship Type="http://schemas.openxmlformats.org/officeDocument/2006/relationships/slide" Target="/ppt/slides/slide23.xml" Id="Rd4b285eb7b9149d6" /><Relationship Type="http://schemas.openxmlformats.org/officeDocument/2006/relationships/slide" Target="/ppt/slides/slide24.xml" Id="Rbd1d17fd6b9c4ea7" /><Relationship Type="http://schemas.openxmlformats.org/officeDocument/2006/relationships/slide" Target="/ppt/slides/slide25.xml" Id="R1ece1b29f53049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8ef321f29d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0bad70c0054916" /><Relationship Type="http://schemas.openxmlformats.org/officeDocument/2006/relationships/notesMaster" Target="/ppt/notesMasters/notesMaster1.xml" Id="R50928ecbdf9348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957705d354452e" /><Relationship Type="http://schemas.openxmlformats.org/officeDocument/2006/relationships/notesMaster" Target="/ppt/notesMasters/notesMaster1.xml" Id="R6601dccd973a48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668583b5a946e3" /><Relationship Type="http://schemas.openxmlformats.org/officeDocument/2006/relationships/notesMaster" Target="/ppt/notesMasters/notesMaster1.xml" Id="R49e9311c1e31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3801294ff14901" /><Relationship Type="http://schemas.openxmlformats.org/officeDocument/2006/relationships/notesMaster" Target="/ppt/notesMasters/notesMaster1.xml" Id="R15a91bd2b40342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824afb5c084b64" /><Relationship Type="http://schemas.openxmlformats.org/officeDocument/2006/relationships/notesMaster" Target="/ppt/notesMasters/notesMaster1.xml" Id="R788bb40640554d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f1b6dbbb484631" /><Relationship Type="http://schemas.openxmlformats.org/officeDocument/2006/relationships/notesMaster" Target="/ppt/notesMasters/notesMaster1.xml" Id="R800f58b05b1644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4074402a0d44c7" /><Relationship Type="http://schemas.openxmlformats.org/officeDocument/2006/relationships/notesMaster" Target="/ppt/notesMasters/notesMaster1.xml" Id="R9db887d1e4674b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31c4ef71fa45e5" /><Relationship Type="http://schemas.openxmlformats.org/officeDocument/2006/relationships/notesMaster" Target="/ppt/notesMasters/notesMaster1.xml" Id="R837cc9ce187644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2fcfa40229424b" /><Relationship Type="http://schemas.openxmlformats.org/officeDocument/2006/relationships/notesMaster" Target="/ppt/notesMasters/notesMaster1.xml" Id="R9a6517db37674a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c19622abe347f2" /><Relationship Type="http://schemas.openxmlformats.org/officeDocument/2006/relationships/notesMaster" Target="/ppt/notesMasters/notesMaster1.xml" Id="Rdf78ba22ce5c4e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9928b7361645b0" /><Relationship Type="http://schemas.openxmlformats.org/officeDocument/2006/relationships/notesMaster" Target="/ppt/notesMasters/notesMaster1.xml" Id="Rfca782b9a7cb43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2dd6ead5f941e3" /><Relationship Type="http://schemas.openxmlformats.org/officeDocument/2006/relationships/notesMaster" Target="/ppt/notesMasters/notesMaster1.xml" Id="R0ce6de02c3f348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c92ae0e44444a9" /><Relationship Type="http://schemas.openxmlformats.org/officeDocument/2006/relationships/notesMaster" Target="/ppt/notesMasters/notesMaster1.xml" Id="Rd24acc0fb30f44f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fdcbd7ec1142ae" /><Relationship Type="http://schemas.openxmlformats.org/officeDocument/2006/relationships/notesMaster" Target="/ppt/notesMasters/notesMaster1.xml" Id="R670eadd5074a4b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0580019e7046c1" /><Relationship Type="http://schemas.openxmlformats.org/officeDocument/2006/relationships/notesMaster" Target="/ppt/notesMasters/notesMaster1.xml" Id="Rafeee9a0fdf341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aafa35306a43a3" /><Relationship Type="http://schemas.openxmlformats.org/officeDocument/2006/relationships/notesMaster" Target="/ppt/notesMasters/notesMaster1.xml" Id="Rcbf54981955c45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9e44c9c7984990" /><Relationship Type="http://schemas.openxmlformats.org/officeDocument/2006/relationships/notesMaster" Target="/ppt/notesMasters/notesMaster1.xml" Id="R2883ab3958e647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8bf94b3e31a4207" /><Relationship Type="http://schemas.openxmlformats.org/officeDocument/2006/relationships/notesMaster" Target="/ppt/notesMasters/notesMaster1.xml" Id="R467eeea8a7c34c9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b38aa91cec4cd9" /><Relationship Type="http://schemas.openxmlformats.org/officeDocument/2006/relationships/notesMaster" Target="/ppt/notesMasters/notesMaster1.xml" Id="R95cdf938265b43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c3d69f13084556" /><Relationship Type="http://schemas.openxmlformats.org/officeDocument/2006/relationships/notesMaster" Target="/ppt/notesMasters/notesMaster1.xml" Id="Rf0a901e87e374c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4f741270f794a93" /><Relationship Type="http://schemas.openxmlformats.org/officeDocument/2006/relationships/notesMaster" Target="/ppt/notesMasters/notesMaster1.xml" Id="Rd39a4ebcc5a34f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20a3a8a52f4d6c" /><Relationship Type="http://schemas.openxmlformats.org/officeDocument/2006/relationships/notesMaster" Target="/ppt/notesMasters/notesMaster1.xml" Id="Rdf5ce89dc7604b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46c3d4813146d2" /><Relationship Type="http://schemas.openxmlformats.org/officeDocument/2006/relationships/notesMaster" Target="/ppt/notesMasters/notesMaster1.xml" Id="R30ad90531f444e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07352150fe4d06" /><Relationship Type="http://schemas.openxmlformats.org/officeDocument/2006/relationships/notesMaster" Target="/ppt/notesMasters/notesMaster1.xml" Id="R9cf1ef9fbad14a6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fda0d00b754099" /><Relationship Type="http://schemas.openxmlformats.org/officeDocument/2006/relationships/notesMaster" Target="/ppt/notesMasters/notesMaster1.xml" Id="Rb4e8e0f1567246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【約20 秒】</a:t>
            </a:r>
          </a:p>
          <a:p xmlns:a="http://schemas.openxmlformats.org/drawingml/2006/main">
            <a:r>
              <a:t>今天我要回答的，不只是印順與聖嚴思想上有何異同，而是一個更具歷史動態的問題：一個不屬於印順學派內部的法鼓系統，如何透過學術建制，參與並促成印順學派的成立。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張辰瑋，第三版完稿，摘要與第一節。</a:t>
            </a:r>
          </a:p>
          <a:p xmlns:a="http://schemas.openxmlformats.org/drawingml/2006/main">
            <a:r>
              <a:t>- 封面概念圖：OpenAI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這份報告直接依照論文五節展開。第一節界定問題與方法；第二節交代兩系共同興起的背景；第三節梳理兩位法師的互動與思想分流；第四節檢視跨系人物、教育平台、CBETA 與研討會；第五節再以「不即不離」收束。每張投影片左上角都會標示對應章節。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張辰瑋，第三版完稿，摘要及第一至第五節。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【約40 秒】</a:t>
            </a:r>
          </a:p>
          <a:p xmlns:a="http://schemas.openxmlformats.org/drawingml/2006/main">
            <a:r>
              <a:t>這個問題刻意避開單向思想傳遞的想像。聖嚴不是印順弟子，法鼓也不是印順學派支系；真正值得解釋的是，為什麼一個外部系統，會成為印順學派學術範式的重要條件。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張辰瑋，第三版完稿，第一節。</a:t>
            </a:r>
          </a:p>
          <a:p xmlns:a="http://schemas.openxmlformats.org/drawingml/2006/main">
            <a:r>
              <a:t>- 藍吉富，《台灣佛教辭典》，「印順學派」條。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過去研究已累積思想比較、生命書寫與宗派觀點等成果。本文不是否定它們，而是把分析單位向外移：追蹤哪些人、哪些機構、哪些事件，使研究印順能在學院與教界持續被培養、出版、再生產。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林建德，2012、2014、2016 年相關比較研究。</a:t>
            </a:r>
          </a:p>
          <a:p xmlns:a="http://schemas.openxmlformats.org/drawingml/2006/main">
            <a:r>
              <a:t>- 釋德晟，2017 博士論文與 2024 專書。</a:t>
            </a:r>
          </a:p>
          <a:p xmlns:a="http://schemas.openxmlformats.org/drawingml/2006/main">
            <a:r>
              <a:t>- 張辰瑋，第三版完稿，第一節。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核心主張可以濃縮成這一句。法鼓系統對印順學派的作用，不必建立在思想歸一或法脈歸屬上；它更主要地發生在教育制度、學術平台、人才與知識工程上。這也解釋了兩系為何能一面商榷，一面合作。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張辰瑋，第三版完稿，摘要、第一節與第五節。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本文沿用藍吉富的界定：印順學派不是封閉宗門，而是由思想擁護者形成的信仰與學術網絡。時間上，以一九七三年《妙雲集》完成為起點，九○年代後進入「後印順時代」，學派的延續更依賴詮釋社群與制度。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藍吉富，《台灣佛教辭典》，2013，頁149–151。</a:t>
            </a:r>
          </a:p>
          <a:p xmlns:a="http://schemas.openxmlformats.org/drawingml/2006/main">
            <a:r>
              <a:t>- 藍吉富，〈台灣佛教思想史上的後印順時代〉，2002。</a:t>
            </a:r>
          </a:p>
          <a:p xmlns:a="http://schemas.openxmlformats.org/drawingml/2006/main">
            <a:r>
              <a:t>- 肖像：https://tcmb.culture.tw/zh-tw/detail?id=2258021&amp;indexCode=Culture_People；CC BY-NC 3.0 TW+。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【約35 秒】</a:t>
            </a:r>
          </a:p>
          <a:p xmlns:a="http://schemas.openxmlformats.org/drawingml/2006/main">
            <a:r>
              <a:t>本文把推崇印順思想的人分成兩種理想型：把理念落實在僧團與社會運動中的信仰實踐者，以及用學術方法評介、考訂思想的研究者。兩者不是互斥陣營，而是共同推動印順學派接受史的兩個力量。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張辰瑋，〈信仰與學術的交互作用〉，2024。</a:t>
            </a:r>
          </a:p>
          <a:p xmlns:a="http://schemas.openxmlformats.org/drawingml/2006/main">
            <a:r>
              <a:t>- 張辰瑋，第三版完稿，摘要與第一節。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研究方法上，我不只讀兩人的思想著作，也把口述、年譜、機構史與事件史放進同一張圖。換句話說，我問的不是誰更接近正統，而是哪些關係與平台，讓知識可以被持續累積。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張辰瑋，第三版完稿，第一節「研究方法與材料」。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兩人雖相差一輩，卻都承接近代佛教改革的問題意識：佛教如何在現代社會中重建教理、教育與實踐。印順偏向思想澄清，聖嚴偏向建僧與制度，但共同問題意識使兩套系統具有可合作的底層條件。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張辰瑋，第三版完稿，第二節。</a:t>
            </a:r>
          </a:p>
          <a:p xmlns:a="http://schemas.openxmlformats.org/drawingml/2006/main">
            <a:r>
              <a:t>- 印順與聖嚴相關自傳、年譜及改革論述，詳見完稿徵引書目。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【約50 秒】</a:t>
            </a:r>
          </a:p>
          <a:p xmlns:a="http://schemas.openxmlformats.org/drawingml/2006/main">
            <a:r>
              <a:t>六○年代以後，大專學佛運動培養出一批希望理性、系統理解佛法的知識青年。他們一方面閱讀《妙雲集》，另一方面也進入農禪寺、中華佛研所等平台。兩系因此共享了時代土壤，也共享人才庫。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釋光持，〈推動大專佛學社團之父－周宣德〉，《法印學報》7，2016。</a:t>
            </a:r>
          </a:p>
          <a:p xmlns:a="http://schemas.openxmlformats.org/drawingml/2006/main">
            <a:r>
              <a:t>- 釋印順，《青年的佛教》。</a:t>
            </a:r>
          </a:p>
          <a:p xmlns:a="http://schemas.openxmlformats.org/drawingml/2006/main">
            <a:r>
              <a:t>- 張辰瑋，第三版完稿，第二節。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【約50 秒】</a:t>
            </a:r>
          </a:p>
          <a:p xmlns:a="http://schemas.openxmlformats.org/drawingml/2006/main">
            <a:r>
              <a:t>兩邊的教育系統並非同步同形，卻都從個人的修學與著述走向制度化。印順側有福嚴、慧日與佛學院；法鼓側則逐步形成農禪寺、佛研所、法鼓山與文理學院。這些制度使人才培養可以被複製。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闞正宗，〈福嚴精舍五十年〉，2003。</a:t>
            </a:r>
          </a:p>
          <a:p xmlns:a="http://schemas.openxmlformats.org/drawingml/2006/main">
            <a:r>
              <a:t>- 林其賢，《聖嚴法師七十年譜》，2000。</a:t>
            </a:r>
          </a:p>
          <a:p xmlns:a="http://schemas.openxmlformats.org/drawingml/2006/main">
            <a:r>
              <a:t>- 張辰瑋，第三版完稿，第二節；年份依完稿所列機構史。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一九六○年，仍在軍中的青年聖嚴以「常不輕」為筆名讀《成佛之道》。他的態度很有代表性：既推崇，也提出商榷，並預見其傳世價值。兩人的關係從一開始就不是單向服從，而是治學者之間的閱讀與回應。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常不輕（釋聖嚴），〈「成佛之道」讀後〉，《海潮音》41卷11期，1960，頁20–21。</a:t>
            </a:r>
          </a:p>
          <a:p xmlns:a="http://schemas.openxmlformats.org/drawingml/2006/main">
            <a:r>
              <a:t>- 張辰瑋，第三版完稿，第三節。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六○年代的互動兼具提攜與商榷。印順曾到高雄慰訪閉關中的聖嚴；約一九六三年，一度考慮由他接福嚴住持。到一九六五年，兩人又在改革誓願、僧衣制度等議題上往返。這顯示跨系愛護不等於取消差異。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釋聖嚴，〈印順長老與我〉，收入《印順導師永懷集》，2006，頁44。</a:t>
            </a:r>
          </a:p>
          <a:p xmlns:a="http://schemas.openxmlformats.org/drawingml/2006/main">
            <a:r>
              <a:t>- 釋聖嚴，〈正法律中的僧尼衣制〉；釋印順，〈僧衣染色的論究〉。</a:t>
            </a:r>
          </a:p>
          <a:p xmlns:a="http://schemas.openxmlformats.org/drawingml/2006/main">
            <a:r>
              <a:t>- 張辰瑋，第三版完稿，第三節；住持事件保留「約／一度有意」表述。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一九六五年，聖嚴就八敬法存廢寫信請教。印順在回信中提醒「為日後計，當重視平等性」。這段話後來被聖嚴在處理女眾問題時引用。思想交流因此不是停在紙上，也可能進入制度與實踐。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印順，1965-03-22 覆聖嚴信，轉引釋聖嚴，〈今後佛教的女眾問題〉，《法鼓全集 2020 紀念版》第5輯第4冊，頁198。</a:t>
            </a:r>
          </a:p>
          <a:p xmlns:a="http://schemas.openxmlformats.org/drawingml/2006/main">
            <a:r>
              <a:t>- 張辰瑋，第三版完稿，第三節。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一九七一年《中國禪宗史》出版後，牛場真玄譯介，聖嚴與吳老擇也積極推動，促成一九七三年大正大學授予印順博士，並由聖嚴代領。兩年後聖嚴也取得博士。這場合作同時伴隨教界物議，最能具象化不即不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釋聖嚴，〈劃時代的博士比丘〉，1973。</a:t>
            </a:r>
          </a:p>
          <a:p xmlns:a="http://schemas.openxmlformats.org/drawingml/2006/main">
            <a:r>
              <a:t>- 釋印順，〈為取得日本學位而要說的幾句話〉。</a:t>
            </a:r>
          </a:p>
          <a:p xmlns:a="http://schemas.openxmlformats.org/drawingml/2006/main">
            <a:r>
              <a:t>- 吳老擇口述，《臺灣佛教一甲子》，2003。</a:t>
            </a:r>
          </a:p>
          <a:p xmlns:a="http://schemas.openxmlformats.org/drawingml/2006/main">
            <a:r>
              <a:t>- 張辰瑋，第三版完稿，第三節。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【約50 秒】</a:t>
            </a:r>
          </a:p>
          <a:p xmlns:a="http://schemas.openxmlformats.org/drawingml/2006/main">
            <a:r>
              <a:t>兩人都可以被理解為以學問承擔菩薩志業，但宗教人格不同。印順主要澄清思想，自認缺乏組織才能；聖嚴則把建僧與制度視為責任。正因一人偏思想、一人偏建制，後來的互補才具有歷史意義。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釋印順，《平凡的一生》（重訂版），相關自述。</a:t>
            </a:r>
          </a:p>
          <a:p xmlns:a="http://schemas.openxmlformats.org/drawingml/2006/main">
            <a:r>
              <a:t>- 釋聖嚴，〈師恩難報〉，《法鼓全集 2020 紀念版》，頁18。</a:t>
            </a:r>
          </a:p>
          <a:p xmlns:a="http://schemas.openxmlformats.org/drawingml/2006/main">
            <a:r>
              <a:t>- 釋德晟，《學問僧的生命書寫》，2024。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林建德用「抉擇」與「傳承」概括兩人的不同。印順以歷史批判辨明佛教流變；聖嚴則站在漢傳禪的實踐立場，重視續其慧命。這種分流是真實的，但不妨礙兩人在制度與學術上合作。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林建德，〈「抉擇」與「傳承」〉，《人間佛教研究》7，2016，頁177–212。</a:t>
            </a:r>
          </a:p>
          <a:p xmlns:a="http://schemas.openxmlformats.org/drawingml/2006/main">
            <a:r>
              <a:t>- 林建德，〈印順法師與聖嚴法師「如來藏」思想之比較〉，2012。</a:t>
            </a:r>
          </a:p>
          <a:p xmlns:a="http://schemas.openxmlformats.org/drawingml/2006/main">
            <a:r>
              <a:t>- 張辰瑋，第三版完稿，第三節。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【約45 秒】</a:t>
            </a:r>
          </a:p>
          <a:p xmlns:a="http://schemas.openxmlformats.org/drawingml/2006/main">
            <a:r>
              <a:t>第四節分成三組證據。第一是跨系人物，追蹤平台、概念與研究者如何流動；第二是厚觀、昭慧等印順法將與法鼓的教育、出版與法誼往來；第三是教育機構、CBETA 與研討會等共同事件。這些證據共同指向：學派更像資源交通網，而不是封閉家譜。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李志夫、惠敏、厚觀、昭慧等口述訪談，詳見第三版完稿徵引書目。</a:t>
            </a:r>
          </a:p>
          <a:p xmlns:a="http://schemas.openxmlformats.org/drawingml/2006/main">
            <a:r>
              <a:t>- 作者訪林建德、清德，2023，未刊稿。</a:t>
            </a:r>
          </a:p>
          <a:p xmlns:a="http://schemas.openxmlformats.org/drawingml/2006/main">
            <a:r>
              <a:t>- 張辰瑋，第三版完稿，第四節。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【約50 秒】</a:t>
            </a:r>
          </a:p>
          <a:p xmlns:a="http://schemas.openxmlformats.org/drawingml/2006/main">
            <a:r>
              <a:t>李志夫與藍吉富代表兩種橋梁。李志夫長期經營法鼓的學術機構與會議平台；藍吉富則提出印順學派、後印順時代等概念，替研究社群提供自我描述的語言。兩人都不必被簡化為單一派別成員。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李志夫口述，《浮塵掠影》，2013。</a:t>
            </a:r>
          </a:p>
          <a:p xmlns:a="http://schemas.openxmlformats.org/drawingml/2006/main">
            <a:r>
              <a:t>- 藍吉富，《台灣佛教辭典》；〈台灣佛教思想史上的後印順時代〉。</a:t>
            </a:r>
          </a:p>
          <a:p xmlns:a="http://schemas.openxmlformats.org/drawingml/2006/main">
            <a:r>
              <a:t>- 張辰瑋，第三版完稿，第四節。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惠敏、清德、林建德呈現三種跨系路徑。惠敏在法鼓受學，又由印順指導論文，後來成為法鼓教育領袖；清德由聖嚴指導研究印順戒律，並長期推動《成佛之道》；林建德始於農禪寺，後來轉向印順研究與兩人比較。這些例子證明，受學聖嚴與研究印順並不衝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惠敏口述，《六十感恩紀》，2014。</a:t>
            </a:r>
          </a:p>
          <a:p xmlns:a="http://schemas.openxmlformats.org/drawingml/2006/main">
            <a:r>
              <a:t>- 鄭雪芬（釋清德）碩論，1992；釋清德，2001、2022。</a:t>
            </a:r>
          </a:p>
          <a:p xmlns:a="http://schemas.openxmlformats.org/drawingml/2006/main">
            <a:r>
              <a:t>- 作者訪林建德，2023，未刊稿。</a:t>
            </a:r>
          </a:p>
          <a:p xmlns:a="http://schemas.openxmlformats.org/drawingml/2006/main">
            <a:r>
              <a:t>- 張辰瑋，第三版完稿，第四節（一）。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印順學派的法將也曾穿越法鼓系統。厚觀先在中華佛研所受學，後來依止印順出家，並把印順著作帶入編校與數位化。昭慧曾在農禪寺講課，首部著作由東初出版社印行；雖然理念有距離，仍保持法誼。右圖是聖嚴在二○○一年法印樓落成時致贈的墨寶，字由聖嚴所書，內容引自印順談精衛銜石的話；現存照片攝於二○○二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厚觀相關口述、任教與印順著作數位化紀錄，詳見第三版完稿第四節（二）。</a:t>
            </a:r>
          </a:p>
          <a:p xmlns:a="http://schemas.openxmlformats.org/drawingml/2006/main">
            <a:r>
              <a:t>- 釋昭慧與聖嚴法師相關著作、訪談及法印樓墨寶紀錄，詳見第三版完稿註45–46。</a:t>
            </a:r>
          </a:p>
          <a:p xmlns:a="http://schemas.openxmlformats.org/drawingml/2006/main">
            <a:r>
              <a:t>- 圖片：張辰瑋提供並授權網站與報告使用；Google Drive id 1RN0rCRHcO4Ho5K_4mn__z1ubj-NIcIGF，檔名「111504-聖嚴墨寶.JPG」，2002-11-15。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【約55 秒】</a:t>
            </a:r>
          </a:p>
          <a:p xmlns:a="http://schemas.openxmlformats.org/drawingml/2006/main">
            <a:r>
              <a:t>學派形成不能只靠名著。教育平台能把招生、指導、學位、任教與出版串成循環，讓研究由一代傳到下一代。清德的律學研究、厚觀的跨系養成，都說明制度如何把個別興趣變成可持續的研究領域。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清德碩論與 2001、2022 專書。</a:t>
            </a:r>
          </a:p>
          <a:p xmlns:a="http://schemas.openxmlformats.org/drawingml/2006/main">
            <a:r>
              <a:t>- 厚觀口述與任教經歷，詳見第三版完稿第四節。</a:t>
            </a:r>
          </a:p>
          <a:p xmlns:a="http://schemas.openxmlformats.org/drawingml/2006/main">
            <a:r>
              <a:t>- 中華佛學研究所相關機構紀錄。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【約60 秒】</a:t>
            </a:r>
          </a:p>
          <a:p xmlns:a="http://schemas.openxmlformats.org/drawingml/2006/main">
            <a:r>
              <a:t>CBETA 是兩系共構最清楚的案例。印順側提供願力、資源與後續著作整理；法鼓側提供聖嚴的支持、中華佛研所的人力與組織。共同成果不只服務印順學，而是成為整個漢文佛典研究的基礎建設。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惠敏口述，《六十感恩紀》，頁249–253。</a:t>
            </a:r>
          </a:p>
          <a:p xmlns:a="http://schemas.openxmlformats.org/drawingml/2006/main">
            <a:r>
              <a:t>- 恆清口述，《杏壇衲履》，頁187–196。</a:t>
            </a:r>
          </a:p>
          <a:p xmlns:a="http://schemas.openxmlformats.org/drawingml/2006/main">
            <a:r>
              <a:t>- 杜正民，〈漢文電子大藏經的製作緣起與作業流程〉，1999。</a:t>
            </a:r>
          </a:p>
          <a:p xmlns:a="http://schemas.openxmlformats.org/drawingml/2006/main">
            <a:r>
              <a:t>- 釋厚觀，〈《印順法師佛學著作集》光碟版簡介〉，1999；李志強，2006。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【約60 秒】</a:t>
            </a:r>
          </a:p>
          <a:p xmlns:a="http://schemas.openxmlformats.org/drawingml/2006/main">
            <a:r>
              <a:t>研討會讓印順思想成為跨教團、跨學界共同面對的議題。即使聖嚴在思想上提出商榷，他的參與、撰文與法鼓平台的協作，仍讓「研究印順」取得公共性與學術正當性。照片中的布條也清楚記錄了這種共同場域。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張辰瑋，第三版完稿，第四節「三樁標誌性事件」。</a:t>
            </a:r>
          </a:p>
          <a:p xmlns:a="http://schemas.openxmlformats.org/drawingml/2006/main">
            <a:r>
              <a:t>- 李志夫，〈從印順導師「以佛法研究佛法」談起〉，《弘誓》69，2004。</a:t>
            </a:r>
          </a:p>
          <a:p xmlns:a="http://schemas.openxmlformats.org/drawingml/2006/main">
            <a:r>
              <a:t>- 圖片：使用者 Google Drive id 16TnICQwk6FfigtkZw19Yc-259bDrtohf；布條可見會議名稱。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【約60 秒】</a:t>
            </a:r>
          </a:p>
          <a:p xmlns:a="http://schemas.openxmlformats.org/drawingml/2006/main">
            <a:r>
              <a:t>總結來說，法鼓系統並未在思想宗本上成為印順學派的一部分，卻透過博士典範、教育建制、人才流動、CBETA 與研討會，深刻參與學派的形成。這提醒我們：學派不是封閉繁衍，而可能由異質但有力的他者共同編織。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張辰瑋，第三版完稿，第五節。</a:t>
            </a:r>
          </a:p>
          <a:p xmlns:a="http://schemas.openxmlformats.org/drawingml/2006/main">
            <a:r>
              <a:t>- 圖片：使用者 Google Drive id 1iXcM4kFdEZVCTPgf1CRJ73s6t7oNQ3Z5，標題 100_4971.JPG。</a:t>
            </a:r>
          </a:p>
          <a:p xmlns:a="http://schemas.openxmlformats.org/drawingml/2006/main">
            <a:r>
              <a:t>- 內頁宣紙底紋：OpenAI ImageGen，2026-08-09；本簡報專用。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ad0d3edb14b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704c958a9b4333" /><Relationship Type="http://schemas.openxmlformats.org/officeDocument/2006/relationships/slideLayout" Target="/ppt/slideLayouts/slideLayout1.xml" Id="R48ec429ec4ea41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ec429ec4ea41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d843bb29c49d7" /><Relationship Type="http://schemas.openxmlformats.org/officeDocument/2006/relationships/image" Target="/ppt/media/image.png" Id="Rbd2d9a665f634b50" /><Relationship Type="http://schemas.openxmlformats.org/officeDocument/2006/relationships/notesSlide" Target="/ppt/notesSlides/notesSlide1.xml" Id="R4ab490a2db294c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323a5513f4cf0" /><Relationship Type="http://schemas.openxmlformats.org/officeDocument/2006/relationships/image" Target="/ppt/media/image.jpeg" Id="R672ef36225ee4cc0" /><Relationship Type="http://schemas.openxmlformats.org/officeDocument/2006/relationships/notesSlide" Target="/ppt/notesSlides/notesSlide2.xml" Id="Rd94099f58ea649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bd41746024b19" /><Relationship Type="http://schemas.openxmlformats.org/officeDocument/2006/relationships/image" Target="/ppt/media/image2.jpeg" Id="Re3e205fb90c94c5d" /><Relationship Type="http://schemas.openxmlformats.org/officeDocument/2006/relationships/notesSlide" Target="/ppt/notesSlides/notesSlide3.xml" Id="R1e5962740e1244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426b800f44d3a" /><Relationship Type="http://schemas.openxmlformats.org/officeDocument/2006/relationships/image" Target="/ppt/media/image3.jpeg" Id="R75b384cc510644dc" /><Relationship Type="http://schemas.openxmlformats.org/officeDocument/2006/relationships/notesSlide" Target="/ppt/notesSlides/notesSlide4.xml" Id="Rae06951bffdc41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47edb9d294528" /><Relationship Type="http://schemas.openxmlformats.org/officeDocument/2006/relationships/image" Target="/ppt/media/image4.jpeg" Id="R4649ab5b15e540ae" /><Relationship Type="http://schemas.openxmlformats.org/officeDocument/2006/relationships/notesSlide" Target="/ppt/notesSlides/notesSlide5.xml" Id="R841791e7831e4d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f7cf864e34bf4" /><Relationship Type="http://schemas.openxmlformats.org/officeDocument/2006/relationships/image" Target="/ppt/media/image5.jpeg" Id="R30da134e67294c42" /><Relationship Type="http://schemas.openxmlformats.org/officeDocument/2006/relationships/image" Target="/ppt/media/image6.jpeg" Id="R124e2f8c190a4dc2" /><Relationship Type="http://schemas.openxmlformats.org/officeDocument/2006/relationships/notesSlide" Target="/ppt/notesSlides/notesSlide6.xml" Id="R12b2e149f2394e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79c6e95954610" /><Relationship Type="http://schemas.openxmlformats.org/officeDocument/2006/relationships/image" Target="/ppt/media/image7.jpeg" Id="Rbb9e25af9c0c4757" /><Relationship Type="http://schemas.openxmlformats.org/officeDocument/2006/relationships/notesSlide" Target="/ppt/notesSlides/notesSlide7.xml" Id="R695f8cb4c9af42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e4837c7884060" /><Relationship Type="http://schemas.openxmlformats.org/officeDocument/2006/relationships/image" Target="/ppt/media/image8.jpeg" Id="R4a87471bac124505" /><Relationship Type="http://schemas.openxmlformats.org/officeDocument/2006/relationships/notesSlide" Target="/ppt/notesSlides/notesSlide8.xml" Id="R87bdff054b9a42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17ccd731f4f0d" /><Relationship Type="http://schemas.openxmlformats.org/officeDocument/2006/relationships/image" Target="/ppt/media/image9.jpeg" Id="R280d689538df4909" /><Relationship Type="http://schemas.openxmlformats.org/officeDocument/2006/relationships/notesSlide" Target="/ppt/notesSlides/notesSlide9.xml" Id="R581b828c61a14c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ce109552f4570" /><Relationship Type="http://schemas.openxmlformats.org/officeDocument/2006/relationships/image" Target="/ppt/media/image10.jpeg" Id="Red95ebf875d3434d" /><Relationship Type="http://schemas.openxmlformats.org/officeDocument/2006/relationships/notesSlide" Target="/ppt/notesSlides/notesSlide10.xml" Id="R3fe28c3933d94b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996e793714cd0" /><Relationship Type="http://schemas.openxmlformats.org/officeDocument/2006/relationships/image" Target="/ppt/media/image11.jpeg" Id="Re2a6c3bd6f434bea" /><Relationship Type="http://schemas.openxmlformats.org/officeDocument/2006/relationships/notesSlide" Target="/ppt/notesSlides/notesSlide11.xml" Id="R172a05fc2f194c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9458aea44477a" /><Relationship Type="http://schemas.openxmlformats.org/officeDocument/2006/relationships/image" Target="/ppt/media/image12.jpeg" Id="R49dd9d60f9d846c6" /><Relationship Type="http://schemas.openxmlformats.org/officeDocument/2006/relationships/notesSlide" Target="/ppt/notesSlides/notesSlide12.xml" Id="R2856164fdaaa41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0bc0b01b24bd8" /><Relationship Type="http://schemas.openxmlformats.org/officeDocument/2006/relationships/image" Target="/ppt/media/image13.jpeg" Id="R6b32395f4ff04bd4" /><Relationship Type="http://schemas.openxmlformats.org/officeDocument/2006/relationships/notesSlide" Target="/ppt/notesSlides/notesSlide13.xml" Id="R1672c3e8f30b4b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8cfe8fa124c16" /><Relationship Type="http://schemas.openxmlformats.org/officeDocument/2006/relationships/image" Target="/ppt/media/image14.jpeg" Id="R503082e9f77c4b1b" /><Relationship Type="http://schemas.openxmlformats.org/officeDocument/2006/relationships/notesSlide" Target="/ppt/notesSlides/notesSlide14.xml" Id="R11e6590b7ee4417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33ce2eafd468d" /><Relationship Type="http://schemas.openxmlformats.org/officeDocument/2006/relationships/image" Target="/ppt/media/image15.jpeg" Id="R26851a18dc314c54" /><Relationship Type="http://schemas.openxmlformats.org/officeDocument/2006/relationships/notesSlide" Target="/ppt/notesSlides/notesSlide15.xml" Id="R1b072399d10842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8d89ec7c54783" /><Relationship Type="http://schemas.openxmlformats.org/officeDocument/2006/relationships/image" Target="/ppt/media/image16.jpeg" Id="Rb2cdc9abf6504dcc" /><Relationship Type="http://schemas.openxmlformats.org/officeDocument/2006/relationships/notesSlide" Target="/ppt/notesSlides/notesSlide16.xml" Id="R664e74ce35b048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6fbbc42904689" /><Relationship Type="http://schemas.openxmlformats.org/officeDocument/2006/relationships/image" Target="/ppt/media/image17.jpeg" Id="R8ac66bd9b8154208" /><Relationship Type="http://schemas.openxmlformats.org/officeDocument/2006/relationships/notesSlide" Target="/ppt/notesSlides/notesSlide17.xml" Id="R9a9485cab3224ac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9e1d779df4310" /><Relationship Type="http://schemas.openxmlformats.org/officeDocument/2006/relationships/image" Target="/ppt/media/image18.jpeg" Id="R0d1dc86c1e64446d" /><Relationship Type="http://schemas.openxmlformats.org/officeDocument/2006/relationships/notesSlide" Target="/ppt/notesSlides/notesSlide18.xml" Id="Rf0da5f4900a447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277b009e54f5e" /><Relationship Type="http://schemas.openxmlformats.org/officeDocument/2006/relationships/image" Target="/ppt/media/image19.jpeg" Id="Rb8ea556d1eae437a" /><Relationship Type="http://schemas.openxmlformats.org/officeDocument/2006/relationships/notesSlide" Target="/ppt/notesSlides/notesSlide19.xml" Id="R6eae4c08d72a4e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4b027f4604ca5" /><Relationship Type="http://schemas.openxmlformats.org/officeDocument/2006/relationships/image" Target="/ppt/media/image20.jpeg" Id="R983d018c9e494c32" /><Relationship Type="http://schemas.openxmlformats.org/officeDocument/2006/relationships/notesSlide" Target="/ppt/notesSlides/notesSlide20.xml" Id="R1702049179f6426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8bad32d1a4cd9" /><Relationship Type="http://schemas.openxmlformats.org/officeDocument/2006/relationships/image" Target="/ppt/media/image21.jpeg" Id="Ra37893a85e2a49e7" /><Relationship Type="http://schemas.openxmlformats.org/officeDocument/2006/relationships/image" Target="/ppt/media/image22.jpeg" Id="Rdcc2778f8ca84240" /><Relationship Type="http://schemas.openxmlformats.org/officeDocument/2006/relationships/notesSlide" Target="/ppt/notesSlides/notesSlide21.xml" Id="R4c625b5fd2684d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f13ebc58841a0" /><Relationship Type="http://schemas.openxmlformats.org/officeDocument/2006/relationships/image" Target="/ppt/media/image23.jpeg" Id="Rd3f2116221d34620" /><Relationship Type="http://schemas.openxmlformats.org/officeDocument/2006/relationships/notesSlide" Target="/ppt/notesSlides/notesSlide22.xml" Id="R97efe400e12b49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f709ed39f4320" /><Relationship Type="http://schemas.openxmlformats.org/officeDocument/2006/relationships/image" Target="/ppt/media/image24.jpeg" Id="R28e1ce9ed261429f" /><Relationship Type="http://schemas.openxmlformats.org/officeDocument/2006/relationships/notesSlide" Target="/ppt/notesSlides/notesSlide23.xml" Id="Rab4f44322c5342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186db3954ddb" /><Relationship Type="http://schemas.openxmlformats.org/officeDocument/2006/relationships/image" Target="/ppt/media/image25.jpeg" Id="R0591ac3bb8884937" /><Relationship Type="http://schemas.openxmlformats.org/officeDocument/2006/relationships/image" Target="/ppt/media/image26.jpeg" Id="R63a0c637d08f4f8e" /><Relationship Type="http://schemas.openxmlformats.org/officeDocument/2006/relationships/notesSlide" Target="/ppt/notesSlides/notesSlide24.xml" Id="R76751a2b752447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96997e6814302" /><Relationship Type="http://schemas.openxmlformats.org/officeDocument/2006/relationships/image" Target="/ppt/media/image27.jpeg" Id="R76475352d6334909" /><Relationship Type="http://schemas.openxmlformats.org/officeDocument/2006/relationships/image" Target="/ppt/media/image28.jpeg" Id="R5154a93fe3c249bc" /><Relationship Type="http://schemas.openxmlformats.org/officeDocument/2006/relationships/notesSlide" Target="/ppt/notesSlides/notesSlide25.xml" Id="Rb0848e136eec40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image-frame">
            <a:extLst xmlns:a="http://schemas.openxmlformats.org/drawingml/2006/main">
              <a:ext uri="{FF2B5EF4-FFF2-40B4-BE49-F238E27FC236}">
                <a16:creationId xmlns:a16="http://schemas.microsoft.com/office/drawing/2014/main" id="{4F7AC057-1503-4F97-9AFD-DF28843F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d9a665f634b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itle-panel">
            <a:extLst xmlns:a="http://schemas.openxmlformats.org/drawingml/2006/main">
              <a:ext uri="{FF2B5EF4-FFF2-40B4-BE49-F238E27FC236}">
                <a16:creationId xmlns:a16="http://schemas.microsoft.com/office/drawing/2014/main" id="{BD830514-8F40-49DB-B4D5-728E9D01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715000" cy="5429250"/>
          </a:xfrm>
          <a:prstGeom xmlns:a="http://schemas.openxmlformats.org/drawingml/2006/main" prst="roundRect">
            <a:avLst>
              <a:gd name="adj" fmla="val 1053"/>
            </a:avLst>
          </a:prstGeom>
          <a:solidFill xmlns:a="http://schemas.openxmlformats.org/drawingml/2006/main">
            <a:srgbClr val="F5ECD9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773E7A5-40C7-45D9-9CA2-58DBB1A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34E19D1-980C-47E0-919C-6B529D7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66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二〇分鐘學術報告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A3B2438-1646-41BE-9322-9E127615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04975"/>
            <a:ext cx="4953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322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聖嚴法師與法鼓系統</a:t>
            </a:r>
          </a:p>
          <a:p xmlns:a="http://schemas.openxmlformats.org/drawingml/2006/main">
            <a:pPr algn="l">
              <a:defRPr sz="322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322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如何促成「印順學派」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3EE1218-3D49-4C7F-8B07-31694E8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AB8EB61-48CA-408B-8E70-DC2D28F2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909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236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2364F"/>
                </a:solidFill>
                <a:latin typeface="Microsoft JhengHei"/>
                <a:ea typeface="Microsoft JhengHei"/>
                <a:cs typeface="Microsoft JhengHei"/>
              </a:rPr>
              <a:t>從思想比較到學術建制史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9A87C09-0918-4E25-9A95-FC9E3E0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張辰瑋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5DC625B-1A62-4389-8DF2-ACF53F8B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國立臺北教育大學臺灣文化研究所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F8F27D4-BB3D-4B9B-A920-5CCB3553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246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東方佛教學術概念圖｜AI 生成</a:t>
            </a:r>
          </a:p>
        </p:txBody>
      </p:sp>
    </p:spTree>
    <p:extLst>
      <p:ext uri="{BB962C8B-B14F-4D97-AF65-F5344CB8AC3E}">
        <p14:creationId xmlns:p14="http://schemas.microsoft.com/office/powerpoint/2010/main" val="1087065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ef36225ee4cc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2768A75-BC95-4341-859C-F127294A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報告結構｜對照論文章節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C81F009-BECE-4FBC-A524-1AA6E22C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五節論證，回答同一個問題</a:t>
            </a:r>
          </a:p>
        </p:txBody>
      </p:sp>
      <p:sp>
        <p:nvSpPr>
          <p:cNvPr id="4" name="box">
            <a:extLst xmlns:a="http://schemas.openxmlformats.org/drawingml/2006/main">
              <a:ext uri="{FF2B5EF4-FFF2-40B4-BE49-F238E27FC236}">
                <a16:creationId xmlns:a16="http://schemas.microsoft.com/office/drawing/2014/main" id="{2B169970-676C-4ABE-8F93-38DF9665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4476750" cy="369570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D46972-B95B-494A-8323-08CC11A3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核心問題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2C2D91-2EC8-477F-98D5-95FD3D11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24125"/>
            <a:ext cx="3790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一個不屬於印順學派內部的</a:t>
            </a:r>
          </a:p>
          <a:p xmlns:a="http://schemas.openxmlformats.org/drawingml/2006/main">
            <a:pPr algn="l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法鼓系統，如何參與並促成</a:t>
            </a:r>
          </a:p>
          <a:p xmlns:a="http://schemas.openxmlformats.org/drawingml/2006/main">
            <a:pPr algn="l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「印順學派」的形成？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698256B-E93F-4E5E-95C1-014F20DF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3790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分析主軸：人、機構、事件與知識工程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0558B11-3554-4B19-A242-BD90AEBE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97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61413C-F974-4817-A369-8C8AE662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前言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FB6677F-6FB3-4479-A647-A565596C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43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概念邊界、研究缺口與方法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5DD8ABD-D3EB-44DE-9EFF-0BA9159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669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517EFF6-5CBF-4EA4-8278-EEC8A69F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97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D44B025-CCBE-468C-830A-B9814D69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共同背景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A8F2B1-55BC-4060-90C6-F5362969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教育化、學術化與知識青年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3235561-6B2D-421A-9B35-497C5CA1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051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9A611AB-5B8E-471D-89E9-749D81D8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97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BFAE3AC-52B9-4500-8ECB-63949DE9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互動與思想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58CDE3A-FC4B-4F1C-8327-DAD1F983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提攜、通信、商榷與分流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905E2BA-2C06-4751-8177-20FB1343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433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A934159-9C3F-4EC8-84E7-2A14E6C8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767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97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四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EA44EAB-7395-47A7-AE90-948761CC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人物與事件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03CA1A2-4918-4CD0-B3BC-1FEFB90A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576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人才流動、CBETA、研討會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03293293-AE66-4693-9DA6-8BB894B1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81525"/>
            <a:ext cx="579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4B391D7-A736-44E6-BC18-C988857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149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97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五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DDF4343-FE9F-4F7F-A8B8-57FDC31F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768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B0C2FA2-6D23-4E27-B010-358FBEE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958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不即不離的共願者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A78E8A08-BDDB-4208-B866-1B16E80C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keaway">
            <a:extLst xmlns:a="http://schemas.openxmlformats.org/drawingml/2006/main">
              <a:ext uri="{FF2B5EF4-FFF2-40B4-BE49-F238E27FC236}">
                <a16:creationId xmlns:a16="http://schemas.microsoft.com/office/drawing/2014/main" id="{B981E367-31E7-45FD-A41C-DC77009C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論證順序：界定問題 → 交代條件 → 檢視互動 → 提出建制證據 → 回到歷史解釋。</a:t>
            </a:r>
          </a:p>
        </p:txBody>
      </p:sp>
    </p:spTree>
    <p:extLst>
      <p:ext uri="{BB962C8B-B14F-4D97-AF65-F5344CB8AC3E}">
        <p14:creationId xmlns:p14="http://schemas.microsoft.com/office/powerpoint/2010/main" val="21419479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205fb90c94c5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457C14E-3259-4EC7-9F13-94EA80FA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E8C9367-99DE-401A-A3DA-62E429C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第一節｜問題意識、方法與材料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B9C9B6-C7E8-4F02-9574-C69CD3E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研究問題：外部系統如何形塑學派？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269406B-8C2A-4749-87D8-61636DE6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84B34DBD-1F9C-4431-AED5-88E50EEF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harma-drum-system">
            <a:extLst xmlns:a="http://schemas.openxmlformats.org/drawingml/2006/main">
              <a:ext uri="{FF2B5EF4-FFF2-40B4-BE49-F238E27FC236}">
                <a16:creationId xmlns:a16="http://schemas.microsoft.com/office/drawing/2014/main" id="{E7B58F9D-3CC3-4F50-8C8F-707D873D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3143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A4472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9A9F50-D31E-4D31-BB3F-FF441F5C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法鼓系統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B0AD67-8A26-4F10-ABDF-F2E72EEF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教育建制｜佛研所與學位平台</a:t>
            </a:r>
          </a:p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知識工程｜CBETA 與出版</a:t>
            </a:r>
          </a:p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公共場域｜研討會與跨系合作</a:t>
            </a:r>
          </a:p>
        </p:txBody>
      </p:sp>
      <p:sp>
        <p:nvSpPr>
          <p:cNvPr id="10" name="yinshun-school">
            <a:extLst xmlns:a="http://schemas.openxmlformats.org/drawingml/2006/main">
              <a:ext uri="{FF2B5EF4-FFF2-40B4-BE49-F238E27FC236}">
                <a16:creationId xmlns:a16="http://schemas.microsoft.com/office/drawing/2014/main" id="{F394686A-5315-4023-9CBA-154AF938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314325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2F5D50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CD431B-9F43-47AD-9F07-2CCBF5ED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81200"/>
            <a:ext cx="2305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印順學派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C0FC89B-B99F-48F2-BECE-98F1381D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思想資源｜《妙雲集》等著作</a:t>
            </a:r>
          </a:p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實踐網絡｜僧團與社會運動</a:t>
            </a:r>
          </a:p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研究社群｜評介、考訂與再詮釋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24300" y="2752725"/>
            <a:ext cx="43434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2118"/>
            </a:solidFill>
            <a:prstDash val="solid"/>
            <a:tailEnd type="arrow" w="med" len="med"/>
          </a:ln>
        </p:spPr>
      </p:cxnSp>
      <p:sp>
        <p:nvSpPr>
          <p:cNvPr id="14" name="label-strip">
            <a:extLst xmlns:a="http://schemas.openxmlformats.org/drawingml/2006/main">
              <a:ext uri="{FF2B5EF4-FFF2-40B4-BE49-F238E27FC236}">
                <a16:creationId xmlns:a16="http://schemas.microsoft.com/office/drawing/2014/main" id="{20919DFC-57B3-45F9-86BE-2BFB30BA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95525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7F769C9-0C44-40F0-8213-C23AE49E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431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外部推手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38DD37-61D5-4839-977E-A4B1C7F2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81300"/>
            <a:ext cx="2324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人才流動</a:t>
            </a:r>
          </a:p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機構支撐</a:t>
            </a:r>
          </a:p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共同事件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EB11643-4BBD-44D3-AF60-0BA2861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0E8BC0-CB0A-4D8D-B07C-863F3129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研究時段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CDDD126-3C0B-4DF5-A8C9-BFEB757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1970–2000年代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0048E1B-D472-4492-8B17-990A19CC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572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分析層次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046F155-E121-4DEC-8166-A031CF4B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953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接受史＋學術建制史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E1E519D-FB90-4FE5-9F8F-185D9213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572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觀察證據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2981DA4-DDFA-4D70-89A8-C19AB32A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9530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人、機構、事件</a:t>
            </a:r>
          </a:p>
        </p:txBody>
      </p:sp>
    </p:spTree>
    <p:extLst>
      <p:ext uri="{BB962C8B-B14F-4D97-AF65-F5344CB8AC3E}">
        <p14:creationId xmlns:p14="http://schemas.microsoft.com/office/powerpoint/2010/main" val="1073242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384cc510644d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7F33C5E7-2B07-4A28-B44D-2D6D27B2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09DDB42D-0191-41F2-B5E5-811BC7C7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第一節｜問題意識、方法與材料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B18315-AEBD-43CE-B70B-765EB93D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研究視角必須移動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EE5F714-245C-40CD-9122-FD152758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FF2DC05B-9EF8-4905-8D6F-5B60BD0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364431-B5D5-413F-ADFE-7E7A14AD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97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過去多問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4E4E98-D7AF-4B53-B205-EDCBF507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本文改問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0322D201-E4C8-47B6-AD3D-4612CA54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2886075"/>
          </a:xfrm>
          <a:prstGeom xmlns:a="http://schemas.openxmlformats.org/drawingml/2006/main" prst="roundRect">
            <a:avLst>
              <a:gd name="adj" fmla="val 6601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E02207F-2A15-4E61-8501-F8370316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思想異同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0927CCE-9997-4B35-9B74-9C10ABCF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生命史比較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4158BC5-B842-467A-96E4-3947D852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宗派立場判讀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4DFF441-777A-4D94-83E7-79E59CCF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71975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預設：學派主要由思想家與弟子向內形成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E8F3CE5D-A168-4D48-BF03-6CFDBDA8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4953000" cy="2886075"/>
          </a:xfrm>
          <a:prstGeom xmlns:a="http://schemas.openxmlformats.org/drawingml/2006/main" prst="roundRect">
            <a:avLst>
              <a:gd name="adj" fmla="val 6601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60A7B6E-0FE4-4883-8AAE-3A720389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哪些人、機構與事件，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6FF31DE-832D-488B-8A98-8002BBAD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4267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使「研究印順」能持續生產？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907A7A-35AC-43FD-B836-E92F7055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426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本文：學派也由外部條件與跨系協作促成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F44148D5-8E70-4140-9BEA-EDEC6121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6F82C5A1-4F2E-4B28-BEEA-23C6BFA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分析單位：從思想文本，轉向學術建制與接受史。</a:t>
            </a:r>
          </a:p>
        </p:txBody>
      </p:sp>
    </p:spTree>
    <p:extLst>
      <p:ext uri="{BB962C8B-B14F-4D97-AF65-F5344CB8AC3E}">
        <p14:creationId xmlns:p14="http://schemas.microsoft.com/office/powerpoint/2010/main" val="1515375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9ab5b15e540a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A2A21F0-1953-4EB6-A8FE-02D99966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2E122A0-E602-471B-A95D-894FC19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第一節｜問題意識、方法與材料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4F2873-3750-4826-AD4B-4E6D63CF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核心主張：推手作用發生在建制層次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971E21-4EE9-4768-85A0-0C6FAC65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B41D8B3E-FAE7-47FD-8D5F-6CADAAF5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3B22838-3557-45D5-BA1B-CCA505D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1F43472-6814-481D-911C-F2DBC3B0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6210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法鼓系統不是印順學派的內部支系，</a:t>
            </a:r>
          </a:p>
          <a:p xmlns:a="http://schemas.openxmlformats.org/drawingml/2006/main">
            <a:pPr algn="l">
              <a:defRPr sz="30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卻是其「學術範式」確立的重要外部推手。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150C3DE-281F-48C0-92A9-E450A34D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335280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9BF9A8B-04CD-4475-8FB1-AC580126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教育建制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C43DFCA-73CF-40C6-8C26-8C0E0607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佛研所、學位制度與任教平台</a:t>
            </a:r>
          </a:p>
        </p:txBody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E2BB64DD-073F-483E-A2DF-C0E46FC7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335280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5D92E3D-7974-493D-AA68-8E33A2F7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338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人才流動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F4896A-5924-4772-BB8C-8C52F51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338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李志夫、惠敏、清德、厚觀</a:t>
            </a:r>
          </a:p>
          <a:p xmlns:a="http://schemas.openxmlformats.org/drawingml/2006/main">
            <a:pPr algn="ctr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在兩系之間受學／任教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69713991-6FCB-4586-BF7C-31E5D8B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35280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CC64C7-4EA5-4948-ABF4-9DB40D4D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33800"/>
            <a:ext cx="2819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共同工程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5784071-EABF-4A73-AC46-DB1354BA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33875"/>
            <a:ext cx="274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博士比丘、CBETA 與印順學研討會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BAC341F7-FAB2-4E2C-922D-F3C429F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0552EEE6-BDE9-4DD9-B4DF-EA4E6BD4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因此，兩系關係的關鍵不是思想歸一，而是建制互助與資源共構。</a:t>
            </a:r>
          </a:p>
        </p:txBody>
      </p:sp>
    </p:spTree>
    <p:extLst>
      <p:ext uri="{BB962C8B-B14F-4D97-AF65-F5344CB8AC3E}">
        <p14:creationId xmlns:p14="http://schemas.microsoft.com/office/powerpoint/2010/main" val="2109204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a134e67294c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0ECFD464-8B2A-4231-B342-57BD124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90EFFD94-47A6-4416-9311-B5AE5F49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第一節｜問題意識、方法與材料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9B88EB-C851-4DDB-A6C4-77F7F097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概念邊界：兩個不同的網絡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E478330-D12C-4AA8-956A-CDF39A4A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88A48F4-5DA5-4F65-9855-6F0322E1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mage-frame">
            <a:extLst xmlns:a="http://schemas.openxmlformats.org/drawingml/2006/main">
              <a:ext uri="{FF2B5EF4-FFF2-40B4-BE49-F238E27FC236}">
                <a16:creationId xmlns:a16="http://schemas.microsoft.com/office/drawing/2014/main" id="{68DFC4D1-357D-4CE6-8609-830D498E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857500" cy="37147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e2f8c190a4dc2"/>
          <a:srcRect xmlns:a="http://schemas.openxmlformats.org/drawingml/2006/main" l="5867" t="0" r="58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562100"/>
            <a:ext cx="2857500" cy="3714750"/>
          </a:xfrm>
          <a:prstGeom xmlns:a="http://schemas.openxmlformats.org/drawingml/2006/main" prst="roundRect">
            <a:avLst>
              <a:gd name="adj" fmla="val 6000"/>
            </a:avLst>
          </a:prstGeom>
        </p:spPr>
      </p:pic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B48C139-E3BF-4A5F-B7EF-7778D17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62100"/>
            <a:ext cx="7239000" cy="1685925"/>
          </a:xfrm>
          <a:prstGeom xmlns:a="http://schemas.openxmlformats.org/drawingml/2006/main" prst="roundRect">
            <a:avLst>
              <a:gd name="adj" fmla="val 11299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81AB00C-8202-45F1-866A-5712CCE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印順學派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B0F8F0-FD31-4A67-A3A4-4BE758DD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145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由印順思想擁護者形成的「信仰＋學術網絡」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DF110E-4031-46C2-9793-12CD226E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987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1973《妙雲集》完成：學派成形起點　｜　1994 後：進入「後印順時代」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98EA57B-E204-449A-9BF0-4CC61401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24250"/>
            <a:ext cx="72390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B4614D4-2060-4072-BE5B-4E0A962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528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法鼓系統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2F708BD-1295-491D-9219-B841820F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576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以聖嚴為核心，所創辦或實際主持的宗教、學術機構網絡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0B15E03-555B-4D8A-88FA-3E983D6F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339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文化館／農禪寺／中華佛研所／法鼓山／佛教學院・文理學院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5343738-A43F-4394-8278-05A79A54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6730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本文研究範圍：1970–2000年代；兩者沒有法脈從屬關係。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457FFC3-3E34-4340-9ECC-E6087F4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印順法師｜新竹市文化局／國家文化記憶庫｜CC BY-NC 3.0 TW+</a:t>
            </a:r>
          </a:p>
        </p:txBody>
      </p:sp>
    </p:spTree>
    <p:extLst>
      <p:ext uri="{BB962C8B-B14F-4D97-AF65-F5344CB8AC3E}">
        <p14:creationId xmlns:p14="http://schemas.microsoft.com/office/powerpoint/2010/main" val="21466249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e25af9c0c47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D440001-1DF0-49E6-A1A3-9FF50F41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8B197250-9684-49C5-8F09-90477C98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第一節｜問題意識、方法與材料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D305B-3BED-42E5-9419-69348A07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兩種詮釋社群，共同造就學派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8F0D6F6-FC62-48D8-A4F8-37C262AD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558BE05-D79F-40F7-9DC8-EFD30C12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1CF4D52-771D-46DB-A913-B1B894D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428625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2F5D50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3BC80C85-1A8E-476E-B4C1-69BE6E7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286250" cy="3333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A4472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52AE8DA-477C-4EC6-9DC1-1B0E855D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81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信仰範式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E1CA42D-9D19-4D28-8E53-E7CA6DDA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670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僧團改革</a:t>
            </a:r>
          </a:p>
          <a:p xmlns:a="http://schemas.openxmlformats.org/drawingml/2006/main">
            <a:pPr algn="ctr">
              <a:def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社會實踐</a:t>
            </a:r>
          </a:p>
          <a:p xmlns:a="http://schemas.openxmlformats.org/drawingml/2006/main">
            <a:pPr algn="ctr">
              <a:def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人間佛教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01D683-F95C-4663-BA66-37A1427D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81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學術範式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281731A-6E27-4640-AFB3-7B550396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評介</a:t>
            </a:r>
          </a:p>
          <a:p xmlns:a="http://schemas.openxmlformats.org/drawingml/2006/main">
            <a:pPr algn="ctr">
              <a:def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考訂</a:t>
            </a:r>
          </a:p>
          <a:p xmlns:a="http://schemas.openxmlformats.org/drawingml/2006/main">
            <a:pPr algn="ctr">
              <a:def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研究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85DACB88-5906-4B52-B4D6-4952421B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76525"/>
            <a:ext cx="28194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272118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7BFA364-E796-41D7-8883-98AF7F05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38475"/>
            <a:ext cx="1866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印順學派的</a:t>
            </a:r>
          </a:p>
          <a:p xmlns:a="http://schemas.openxmlformats.org/drawingml/2006/main">
            <a:pPr algn="ctr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接受史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34649D0A-E722-4D5E-B627-40701D40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20490EB2-BBD1-408E-95AD-1D263B89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學派的崛起，是兩種範式持續交互作用的結果。</a:t>
            </a:r>
          </a:p>
        </p:txBody>
      </p:sp>
    </p:spTree>
    <p:extLst>
      <p:ext uri="{BB962C8B-B14F-4D97-AF65-F5344CB8AC3E}">
        <p14:creationId xmlns:p14="http://schemas.microsoft.com/office/powerpoint/2010/main" val="17026554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7471bac1245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1804049-786F-499B-9DC6-59CAFC9A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9B8D57D-403A-4322-8552-25D5155E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第一節｜方法與材料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840AB4-2FD8-46E7-B9F3-8096B321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材料與方法：追蹤學術建制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6FA6D72-C996-4922-9830-73264A4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A81B1D6-F612-4DCA-ADC8-2820F357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1C27386-D357-4E0D-A684-0FFE2A07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3333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2F5D50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A556B651-C0D8-468A-A1D8-DF38BA6B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3333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A44728"/>
            </a:solidFill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A5FE93B2-5F4B-4878-99F4-345177AD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D8E0E7"/>
          </a:solidFill>
          <a:ln xmlns:a="http://schemas.openxmlformats.org/drawingml/2006/main" w="9525">
            <a:solidFill>
              <a:srgbClr val="263E5B"/>
            </a:solidFill>
            <a:prstDash val="solid"/>
          </a:ln>
        </p:spPr>
      </p:sp>
      <p:cxnSp>
        <p:nvCxnSpPr>
          <p:cNvPr id="32" name=""/>
          <p:cNvCxnSpPr>
            <a:stCxn xmlns:a="http://schemas.openxmlformats.org/drawingml/2006/main" id="7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295525" y="3352800"/>
            <a:ext cx="213360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C8A7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762875" y="3352800"/>
            <a:ext cx="213360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C8A7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62400" y="2505075"/>
            <a:ext cx="426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C8A7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E880A11-52C6-4700-9C30-DA88E86B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24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F5D50"/>
                </a:solidFill>
                <a:latin typeface="DFKai-SB"/>
                <a:ea typeface="DFKai-SB"/>
                <a:cs typeface="DFKai-SB"/>
              </a:defRPr>
            </a:pPr>
            <a:r>
              <a:rPr sz="2325" b="1" i="0">
                <a:solidFill>
                  <a:srgbClr val="2F5D50"/>
                </a:solidFill>
                <a:latin typeface="DFKai-SB"/>
                <a:ea typeface="DFKai-SB"/>
                <a:cs typeface="DFKai-SB"/>
              </a:rPr>
              <a:t>交叉驗證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993BF4-0D25-43EA-8344-EA8C80F8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813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學術建制史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84FB957-BD2F-4304-930F-D492F26B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人｜口述・訪談・生命史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5ED6E16-9351-4ACE-88F8-5C8EA666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李志夫、惠敏、厚觀、昭慧</a:t>
            </a:r>
          </a:p>
          <a:p xmlns:a="http://schemas.openxmlformats.org/drawingml/2006/main">
            <a:pPr algn="ctr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追蹤受學、任教與跨系選擇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69C19B9-977F-4ACC-B7F2-E38631CA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669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機構｜校史・年譜・出版紀錄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9EBD07C-F8D7-403E-8903-AFD7A504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907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福嚴、中華佛研所、弘誓</a:t>
            </a:r>
          </a:p>
          <a:p xmlns:a="http://schemas.openxmlformats.org/drawingml/2006/main">
            <a:pPr algn="ctr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觀察人才如何被培養與支持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5FEA5DB1-A57A-41DF-956D-D3EB0326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053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事件｜書信・會議・數位檔案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D5CC77F-F362-4A6D-B7CD-9DE470E9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29175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博士比丘、CBETA、印順學研討會</a:t>
            </a:r>
          </a:p>
          <a:p xmlns:a="http://schemas.openxmlformats.org/drawingml/2006/main">
            <a:pPr algn="ctr">
              <a:def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檢驗合作如何被制度化與公共化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D26950F5-6562-47A1-B4CE-A38628EB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9B79CCD5-B725-45A2-B0BC-45ACF67D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一手文獻＋年譜口述＋未刊訪談，彼此交叉比對。</a:t>
            </a:r>
          </a:p>
        </p:txBody>
      </p:sp>
    </p:spTree>
    <p:extLst>
      <p:ext uri="{BB962C8B-B14F-4D97-AF65-F5344CB8AC3E}">
        <p14:creationId xmlns:p14="http://schemas.microsoft.com/office/powerpoint/2010/main" val="12527018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d689538df49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8AE2395-B3CB-45A1-A47A-E9F5002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A050A5FD-9A9D-4BB8-8B81-55BE2ADF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第二節｜兩系興起的共同背景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FD7814-3236-4E68-A697-06A11E9C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共同起點：太虛留下的改革課題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B06F7E7-73DA-4E71-A910-632A7346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5CB56975-33EC-4CD9-926A-5103DD8E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F830658F-76BD-4EC9-8BE2-5DA1D22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95425"/>
            <a:ext cx="38862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272118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9DF16B0-BAE6-4275-B7C6-C067FEFB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33550"/>
            <a:ext cx="320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佛教必須回應現代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8A061253-ACC9-4D5B-8470-4E102C13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90925"/>
            <a:ext cx="4095750" cy="1495425"/>
          </a:xfrm>
          <a:prstGeom xmlns:a="http://schemas.openxmlformats.org/drawingml/2006/main" prst="roundRect">
            <a:avLst>
              <a:gd name="adj" fmla="val 11465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2F5D50"/>
            </a:solidFill>
            <a:prstDash val="solid"/>
          </a:ln>
        </p:spPr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DBC0CA9C-DAA5-471D-A58E-C2789D22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90925"/>
            <a:ext cx="4095750" cy="1495425"/>
          </a:xfrm>
          <a:prstGeom xmlns:a="http://schemas.openxmlformats.org/drawingml/2006/main" prst="roundRect">
            <a:avLst>
              <a:gd name="adj" fmla="val 11465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A44728"/>
            </a:solidFill>
            <a:prstDash val="solid"/>
          </a:ln>
        </p:spPr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8289926-E221-4C63-835D-EEC466FA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52675"/>
            <a:ext cx="190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2A061876-68E8-4391-8B43-63387535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38525"/>
            <a:ext cx="5962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DAA48B8A-CDF8-453C-9EDC-F2D05BCA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38525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0A3B441-3FF2-4855-B09F-E000C7C3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38525"/>
            <a:ext cx="190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F0E7BA9-0E20-4CED-AD12-F870D50F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29050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5BCFF9E-857F-4D70-904E-A7F29483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62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思想探微／《妙雲集》／僧教育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FFF8567-2422-4F69-A57D-590EC9ED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29050"/>
            <a:ext cx="3448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聖嚴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1865961-67FE-4CF2-AA76-B323AE23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禪修弘化／佛研所／建僧制度</a:t>
            </a:r>
          </a:p>
        </p:txBody>
      </p:sp>
      <p:sp>
        <p:nvSpPr>
          <p:cNvPr id="19" name="label-strip">
            <a:extLst xmlns:a="http://schemas.openxmlformats.org/drawingml/2006/main">
              <a:ext uri="{FF2B5EF4-FFF2-40B4-BE49-F238E27FC236}">
                <a16:creationId xmlns:a16="http://schemas.microsoft.com/office/drawing/2014/main" id="{95BB899F-A5D2-4FB4-A06A-BEFBDA0E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86050"/>
            <a:ext cx="15240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1A854C9-AFDE-4FE4-987E-2D710D1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33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教理革新</a:t>
            </a:r>
          </a:p>
        </p:txBody>
      </p:sp>
      <p:sp>
        <p:nvSpPr>
          <p:cNvPr id="21" name="label-strip">
            <a:extLst xmlns:a="http://schemas.openxmlformats.org/drawingml/2006/main">
              <a:ext uri="{FF2B5EF4-FFF2-40B4-BE49-F238E27FC236}">
                <a16:creationId xmlns:a16="http://schemas.microsoft.com/office/drawing/2014/main" id="{3E83F1EA-C686-4289-ABD9-596BCC8A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86050"/>
            <a:ext cx="15240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AB72C0D-8EB9-43CF-BD64-836F22B6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733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僧教育</a:t>
            </a:r>
          </a:p>
        </p:txBody>
      </p:sp>
      <p:sp>
        <p:nvSpPr>
          <p:cNvPr id="23" name="label-strip">
            <a:extLst xmlns:a="http://schemas.openxmlformats.org/drawingml/2006/main">
              <a:ext uri="{FF2B5EF4-FFF2-40B4-BE49-F238E27FC236}">
                <a16:creationId xmlns:a16="http://schemas.microsoft.com/office/drawing/2014/main" id="{90385CC2-D7AD-4019-9E30-9E67C7B3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15240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83B6092-FDD9-401B-981A-9F100B3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人間佛教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3077635C-A926-40F3-8D83-A9035B86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keaway">
            <a:extLst xmlns:a="http://schemas.openxmlformats.org/drawingml/2006/main">
              <a:ext uri="{FF2B5EF4-FFF2-40B4-BE49-F238E27FC236}">
                <a16:creationId xmlns:a16="http://schemas.microsoft.com/office/drawing/2014/main" id="{7742B7AB-8AC1-41D7-8991-4E2AAC3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道路不同，卻共享「改革佛教」的問題意識。</a:t>
            </a:r>
          </a:p>
        </p:txBody>
      </p:sp>
    </p:spTree>
    <p:extLst>
      <p:ext uri="{BB962C8B-B14F-4D97-AF65-F5344CB8AC3E}">
        <p14:creationId xmlns:p14="http://schemas.microsoft.com/office/powerpoint/2010/main" val="149683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5ebf875d343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670BBE1-F4C1-4550-85BD-09FE5E2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D11C2FA3-BA7A-429A-9255-7E75166B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第二節｜兩系興起的共同背景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A80936-A359-4C71-BEEA-2CE331AD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同一批知識青年，進入兩套平台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AF20C2B-4539-4889-A1B1-F770327D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CC91D830-FFBE-4725-87CD-7703A3DA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75FFE46B-8CCE-4B9E-816D-D15E10E8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381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572E3C0-6A73-4DA0-A646-D93A67B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1960s–1990s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C2AB2E1-D131-4E8E-B7D4-30EC34EC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大專學佛運動</a:t>
            </a:r>
          </a:p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高教青年入場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CFE9A8E5-E4D1-4FCB-AF73-8FED0F5E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381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38E1D67-BF96-423C-AFF9-ECDB8245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628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知識需求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9E1D9D1-6CC1-4315-A83F-C1502E5B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7657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理性、系統佛法</a:t>
            </a:r>
          </a:p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不只依賴權威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5708675F-DA4C-4D69-AAFE-F2A064D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381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BC43818-8E86-4BE2-9A05-5CEBF776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1969–1973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A68211D-4205-4CBB-BD4F-690E5DD2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7657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《妙雲集》完成</a:t>
            </a:r>
          </a:p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核心讀者形成</a:t>
            </a:r>
          </a:p>
        </p:txBody>
      </p:sp>
      <p:sp>
        <p:nvSpPr>
          <p:cNvPr id="16" name="box">
            <a:extLst xmlns:a="http://schemas.openxmlformats.org/drawingml/2006/main">
              <a:ext uri="{FF2B5EF4-FFF2-40B4-BE49-F238E27FC236}">
                <a16:creationId xmlns:a16="http://schemas.microsoft.com/office/drawing/2014/main" id="{E002225A-BCD4-4C04-9891-A5F941F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33625"/>
            <a:ext cx="23812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449DB3F-9448-410C-BD10-83F0DBE2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62890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1970s 以後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3F654EC-13B2-48A7-A066-66C899C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76575"/>
            <a:ext cx="1962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農禪寺／佛研所</a:t>
            </a:r>
          </a:p>
          <a:p xmlns:a="http://schemas.openxmlformats.org/drawingml/2006/main">
            <a:pPr algn="ctr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禪修＋學位平台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95600" y="32289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118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62625" y="32289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118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629650" y="32289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118"/>
            </a:solidFill>
            <a:prstDash val="solid"/>
            <a:tailEnd type="arrow" w="sm" len="sm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AE069DC-163A-413D-B278-ED594C4E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958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共享的不是單一教義，而是時代土壤與人才庫。</a:t>
            </a:r>
          </a:p>
        </p:txBody>
      </p:sp>
    </p:spTree>
    <p:extLst>
      <p:ext uri="{BB962C8B-B14F-4D97-AF65-F5344CB8AC3E}">
        <p14:creationId xmlns:p14="http://schemas.microsoft.com/office/powerpoint/2010/main" val="7367405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6c3bd6f434be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55E9423-690A-4687-8E2D-05321D34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AF0D98B-E62E-4023-B694-28A2C9E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第二節｜兩系興起的共同背景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36BBA8-378E-42A3-B1A2-0D316126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兩套教育系統，平行長成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33DE51-FE27-44A8-AB31-A99AE8E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77DFEEB0-4D4D-4508-A875-2F3D56A5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721F9AA-2DB6-461C-88E5-520396C9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印順側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AC03B68-3013-43EE-8055-251C200F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81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法鼓側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CF541DEE-87A4-4E42-BBF6-0F4B6083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76475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8612FF3-D0CD-410B-8AF5-19EBF6EA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971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98F1F-C12C-4F5B-B32E-80343EFE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2F5D5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879ED0-5A5B-4056-B35A-338744D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847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1953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6245180-4581-466D-934C-71BE7602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2412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福嚴精舍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86498-25B9-4841-B2C3-D9B6657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2F5D50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945954F-3974-4962-ACDE-63A9E147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1961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CD034BA-DD27-474C-AD08-19863FA2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2412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慧日講堂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194B1A-0FD6-45BA-B433-161064C0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2F5D50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7B57FB9-0858-40A6-9871-2A83F487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1969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A1BC8E0-813D-41F2-AE52-32E5E74F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24125"/>
            <a:ext cx="163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福嚴佛學院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960AD-527D-4789-BD9A-EAB9B13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29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EDB8AE7-D7C0-4F95-AB19-178C66EF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671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1977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579C972-1BB6-4450-8C80-CF62CE30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農禪寺／文化館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D9FFED-3DFE-4294-A186-7FCC1750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29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7E396A0-C0D4-46A7-A6B8-027031F1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671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1978–84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9F78FFD-74D6-44F1-A6F3-6A8426CD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佛學研究所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724F7-8E1F-4FBE-95E5-FD0E8BC9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29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22EB2AF-0118-48FF-B180-49DFDD24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671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1985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8BECB7B-FF75-4FF2-84D1-7C3AF7E4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中華佛研所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10D05-6DEF-4D73-8139-BE6DFC9A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29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7C11E352-6391-42A2-94C6-F7D9BAEC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0671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1989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7E9778C-D7FB-437F-AF49-C731F134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法鼓山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AF2D56-5720-4087-BCB4-A741D84E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29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B508446-FA5C-4307-9753-5F04EF3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067175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2007/14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D05053E1-8D61-44A6-BDD2-470566F3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7339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276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佛教學院／文理學院</a:t>
            </a:r>
          </a:p>
        </p:txBody>
      </p:sp>
      <p:sp>
        <p:nvSpPr>
          <p:cNvPr id="35" name="rule">
            <a:extLst xmlns:a="http://schemas.openxmlformats.org/drawingml/2006/main">
              <a:ext uri="{FF2B5EF4-FFF2-40B4-BE49-F238E27FC236}">
                <a16:creationId xmlns:a16="http://schemas.microsoft.com/office/drawing/2014/main" id="{9AB4DAB0-EBAC-479B-A0D0-E038E561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akeaway">
            <a:extLst xmlns:a="http://schemas.openxmlformats.org/drawingml/2006/main">
              <a:ext uri="{FF2B5EF4-FFF2-40B4-BE49-F238E27FC236}">
                <a16:creationId xmlns:a16="http://schemas.microsoft.com/office/drawing/2014/main" id="{E10D007E-BD56-408F-B4A6-64FC0F27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從著述與修學，走向可複製的人才養成。</a:t>
            </a:r>
          </a:p>
        </p:txBody>
      </p:sp>
    </p:spTree>
    <p:extLst>
      <p:ext uri="{BB962C8B-B14F-4D97-AF65-F5344CB8AC3E}">
        <p14:creationId xmlns:p14="http://schemas.microsoft.com/office/powerpoint/2010/main" val="1588417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d9d60f9d846c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3249BE72-EB50-4AA8-96DA-8A71A2B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9E79FA7D-E111-44B0-B1E0-903EDB7F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第三節（一）｜互動與通信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AA90C1-1046-42A1-82A2-0C46DE44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第一次思想相遇（1960）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A6B368-6D74-4AD2-A796-C14C5E9B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BE4A4939-AFC6-4E12-8954-52F0B08A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429F8BB-4167-48E8-A3A1-8A81E583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9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1960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433FB4-C3D2-4D50-9B5F-E79836C1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軍中青年張採薇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BE9F9883-620F-4549-9A75-1391A9B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6762750" cy="3295650"/>
          </a:xfrm>
          <a:prstGeom xmlns:a="http://schemas.openxmlformats.org/drawingml/2006/main" prst="roundRect">
            <a:avLst>
              <a:gd name="adj" fmla="val 6936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ED53C83-F161-4AC8-8882-F47F2BF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592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以筆名「常不輕」讀《成佛之道》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D694F97-10EC-4A35-ABB8-562C0974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592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〈「成佛之道」讀後〉｜《海潮音》41 卷 11 期</a:t>
            </a:r>
          </a:p>
        </p:txBody>
      </p:sp>
      <p:sp>
        <p:nvSpPr>
          <p:cNvPr id="12" name="label-strip">
            <a:extLst xmlns:a="http://schemas.openxmlformats.org/drawingml/2006/main">
              <a:ext uri="{FF2B5EF4-FFF2-40B4-BE49-F238E27FC236}">
                <a16:creationId xmlns:a16="http://schemas.microsoft.com/office/drawing/2014/main" id="{720C9803-8CB5-474C-A2AF-F4D14712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71825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99B7E89-F69A-4C03-BE3E-7FF4F4A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19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推崇</a:t>
            </a:r>
          </a:p>
        </p:txBody>
      </p:sp>
      <p:sp>
        <p:nvSpPr>
          <p:cNvPr id="14" name="label-strip">
            <a:extLst xmlns:a="http://schemas.openxmlformats.org/drawingml/2006/main">
              <a:ext uri="{FF2B5EF4-FFF2-40B4-BE49-F238E27FC236}">
                <a16:creationId xmlns:a16="http://schemas.microsoft.com/office/drawing/2014/main" id="{005CAE86-8B7E-40C2-9CEC-D7DCE29B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14287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280B435-6FD0-4E8E-A416-6FD1CEE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商榷</a:t>
            </a:r>
          </a:p>
        </p:txBody>
      </p:sp>
      <p:sp>
        <p:nvSpPr>
          <p:cNvPr id="16" name="label-strip">
            <a:extLst xmlns:a="http://schemas.openxmlformats.org/drawingml/2006/main">
              <a:ext uri="{FF2B5EF4-FFF2-40B4-BE49-F238E27FC236}">
                <a16:creationId xmlns:a16="http://schemas.microsoft.com/office/drawing/2014/main" id="{DA2E7116-FDB3-41FC-87B6-EDD3D25D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71825"/>
            <a:ext cx="2000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8E0E7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BC97303-DB0D-473C-9C22-6A58EAAF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預見傳世價值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1E4E806-42EA-41B8-AB2C-D3F73E34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推崇思想深度｜提出具體商榷｜預言著作具有傳世價值</a:t>
            </a:r>
          </a:p>
        </p:txBody>
      </p:sp>
    </p:spTree>
    <p:extLst>
      <p:ext uri="{BB962C8B-B14F-4D97-AF65-F5344CB8AC3E}">
        <p14:creationId xmlns:p14="http://schemas.microsoft.com/office/powerpoint/2010/main" val="8560285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2395f4ff04bd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ACA0C1A3-8375-42F4-8765-ACCBC7C0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55C05B87-2444-4DC6-B294-EF5F0978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第三節（一）｜互動與通信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112607-1B8E-4969-BA76-3ACD402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提攜，也容許商榷（1963–65）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DD7CEC6-157A-4F1B-B2EB-1595DF42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9D2B5C8C-8AEE-4C9A-833D-C4FDFF2C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3432291-57A4-4472-8864-23F147F5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28975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53F31-08E7-4720-BB88-5A05F690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2F5D50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0D0164E-D1DF-4CB6-AD6E-4E3D5E9B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6222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約 1963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70CBC39-964B-4D65-8E12-454C4664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0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閉關慰訪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CE95EB2-FDFF-437A-B83B-FA3A5FD6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印順兩度慰訪</a:t>
            </a:r>
          </a:p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一度擬交福嚴住持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D8F35-6C03-4143-92E4-7AF7AE5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B3B57A-A340-4D7C-947C-956167D5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6222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1965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7FCD1F-479E-47C0-8CB5-89C08A7B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00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改革誓願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E7192C4-3DE9-4838-BE88-8A831A9C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4337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刺血結盟改革</a:t>
            </a:r>
          </a:p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長輩勸默存改革志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D33ED-7652-4353-AA2B-5DAA095C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52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EC4ED3D-E1B4-4E2A-A86A-093C0873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6222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1965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945663A-12ED-4DAA-98AB-EB0F24DE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103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僧衣論辯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FC5DEFE-B654-4977-82C4-9C9E2DCB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43375"/>
            <a:ext cx="1962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〈僧尼衣制〉 ↔</a:t>
            </a:r>
          </a:p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〈僧衣染色〉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057C1B14-D3FD-4020-94DA-45E6B7D3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CF6AEB0E-1412-4859-AD6D-3A253C0A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無師承義務，仍有跨系愛護與學術互動。</a:t>
            </a:r>
          </a:p>
        </p:txBody>
      </p:sp>
    </p:spTree>
    <p:extLst>
      <p:ext uri="{BB962C8B-B14F-4D97-AF65-F5344CB8AC3E}">
        <p14:creationId xmlns:p14="http://schemas.microsoft.com/office/powerpoint/2010/main" val="1986144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082e9f77c4b1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BD0AF17F-77D7-4E74-A85A-03685C62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0CA8524B-3033-46E3-90F3-C0247B1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第三節（一）｜互動與通信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8A6243-15C5-46C1-B42D-47C37C3E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八敬法通信進入制度實踐（1965）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273E6F4-B4B5-404E-83BE-6484D17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8C63D87-09D7-4168-BE82-ED319255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C15AAE35-5E1E-4715-AEEA-B50D9404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6191250" cy="3752850"/>
          </a:xfrm>
          <a:prstGeom xmlns:a="http://schemas.openxmlformats.org/drawingml/2006/main" prst="roundRect">
            <a:avLst>
              <a:gd name="adj" fmla="val 5076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0CEE90B-2B23-4E86-8767-6BBD1A6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14525"/>
            <a:ext cx="550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印順覆聖嚴信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76BD4CF-8313-4C95-A7EE-F326C15F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352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「為日後計，</a:t>
            </a:r>
          </a:p>
          <a:p xmlns:a="http://schemas.openxmlformats.org/drawingml/2006/main">
            <a:pPr algn="ctr">
              <a:defRPr sz="352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352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　當重視平等性。」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D20FD52-9FE1-401C-8708-6F7CBFAB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若過度強調八敬法，可能使真心為道的女眾</a:t>
            </a:r>
          </a:p>
          <a:p xmlns:a="http://schemas.openxmlformats.org/drawingml/2006/main">
            <a:pPr algn="ctr">
              <a:def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自慚形穢而雌伏。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4D36B5-75D2-4851-BFE8-576E2EE2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85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通信的三層意義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E18DB8-54DB-4273-A57A-75DB9E83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31B6C92-6A47-4821-85A2-530CC6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聖嚴主動請教比丘尼八敬法的存廢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F8398DC9-1A9F-4AF0-BA93-17A1C91A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03991B3-DE2F-40D2-893A-A16E20B6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回應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50CD693-59EC-4906-858A-CC48F255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印順不拘泥形式，強調女眾修道尊嚴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8E641C4-D8EA-4BEB-86A9-ECBDC159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719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5404F04-9045-4529-B83D-1E48FD96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後續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1EE2E7-2296-4482-9079-CB1F285A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2910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聖嚴撰論女眾問題時援引此信作為依據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64AE5CCB-E59C-42E4-9175-50CF54F8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D2CF6180-69C6-4B17-9101-5AC8463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法義交流，也可能進入日後的制度實踐。</a:t>
            </a:r>
          </a:p>
        </p:txBody>
      </p:sp>
    </p:spTree>
    <p:extLst>
      <p:ext uri="{BB962C8B-B14F-4D97-AF65-F5344CB8AC3E}">
        <p14:creationId xmlns:p14="http://schemas.microsoft.com/office/powerpoint/2010/main" val="14527278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51a18dc314c5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FCF4C519-FE4D-4837-AD34-E73624A9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8462CF3-E09C-4026-84BA-CFB79D1A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第三節（一）｜互動與通信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C1BA26-F131-4920-A2CD-72B18EDF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博士比丘的交會（1973）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ADD5500-C8C5-4A78-8BD4-5BE9C6D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5AE8BEA6-BFFA-4FB5-BA5F-8B5818AF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30372326-C501-4CDF-86FD-8942148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45015-A0E5-484A-9E61-5F97C928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A2AB1E9-38DE-44B4-8812-02BD2A54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1971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024B84-CB72-48FE-AD0A-8F8847C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99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《中國禪宗史》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5B4DD7-061C-48DC-86E1-8BA9BE70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243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印順出版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1EAB5-3919-4928-B8A1-142A85B0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52B1FC-CE01-49F7-9CFE-37C60F28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推動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F9B04FC-02C9-4A44-891B-F081D71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099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牛場真玄譯介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18D303-294E-4489-AB31-E4A8C832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243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聖嚴、吳老擇協力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CEA47-AA1C-4E7A-B491-3B467E3B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solidFill>
              <a:srgbClr val="2F5D5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ADC480-2E0A-4A8A-B648-CA01B5A6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14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1973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0D615FB-1A16-4DCE-B751-91B7F773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99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印順獲博士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831950-D2A9-4EF2-93A5-1B427BC9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243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聖嚴代領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BE219-7BC1-474F-9103-9E51CA18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solidFill>
              <a:srgbClr val="A44728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AD707DCD-B9A0-4B11-AB14-C8BC7E42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146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1975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CDD8D7-43BF-4C23-857A-684219B6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0997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聖嚴獲博士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4D7BE00-92B6-4CFF-BABC-4A1F6E9D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24325"/>
            <a:ext cx="1924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實際赴日修學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13000B3-8DE0-44CF-BF6E-AADCBE43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公開壓力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BA6A966C-BA5D-4A7B-8CD8-80EAB6D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81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台日斷交、教界物議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8A8C5BB-3F98-4F06-B459-2AEDD591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815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雙方應對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3564B0AE-1363-4E58-89E8-DB77309A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81575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聖嚴撰文說明；印順公開稱「關係極為普通」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B7BF1EF-3C53-4DC3-8A6A-E7F258C6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638800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私下緊密協力，公開卻須保持距離</a:t>
            </a:r>
          </a:p>
        </p:txBody>
      </p:sp>
    </p:spTree>
    <p:extLst>
      <p:ext uri="{BB962C8B-B14F-4D97-AF65-F5344CB8AC3E}">
        <p14:creationId xmlns:p14="http://schemas.microsoft.com/office/powerpoint/2010/main" val="15553136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dc9abf6504dc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63A0F53E-71D1-4E90-82AE-8111119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ED2B15B-2F16-4658-8B13-0D9639B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第三節（二）｜思想與人格的同異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3BA69A-ED76-404C-8781-ECC0CC31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同一個願，不同的宗教人格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C6D132-188D-4739-86AB-D0DD1B41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824FBB7-05AE-41DE-A532-20725CF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C856D434-4A50-44C5-8B69-27A7455A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5257800" cy="3695700"/>
          </a:xfrm>
          <a:prstGeom xmlns:a="http://schemas.openxmlformats.org/drawingml/2006/main" prst="roundRect">
            <a:avLst>
              <a:gd name="adj" fmla="val 5670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5924E18F-5EF8-443E-BB48-A1C53C6B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81150"/>
            <a:ext cx="5257800" cy="3695700"/>
          </a:xfrm>
          <a:prstGeom xmlns:a="http://schemas.openxmlformats.org/drawingml/2006/main" prst="roundRect">
            <a:avLst>
              <a:gd name="adj" fmla="val 5670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62D380-AF8A-46C8-A379-354CF496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905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ED373E-91E2-49E9-9EB4-E80F8422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澄清思想的「大學問僧」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11AD8A52-8720-4D6B-87D1-ED3DE7D7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EE47AC-B3E8-451B-ACBA-F1A60AA1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研究姿態｜以佛法研究佛法，辨析思想流變</a:t>
            </a:r>
          </a:p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自我定位｜自認缺少祖師精神與組織才能</a:t>
            </a:r>
          </a:p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未竟願望｜仍盼「辦一個道場，樹百年規模」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ACA4951-0586-4FF3-B817-9434B7F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強項：思想辨析、歷史抉擇、著述典範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48BBA83-AA3B-413D-B322-C70F1371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669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905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聖嚴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CD0B6B6-3401-4561-86BF-8EC5BDF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建僧傳法的「大宗教家」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F757512A-98D7-4450-B925-DF52D9F2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A46EF97-4334-4CBC-8AD3-62F2395B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76600"/>
            <a:ext cx="4191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師承提醒｜東初囑咐「切勿為宗教學者」</a:t>
            </a:r>
          </a:p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實踐路線｜禪修、建僧、教育制度並進</a:t>
            </a:r>
          </a:p>
          <a:p xmlns:a="http://schemas.openxmlformats.org/drawingml/2006/main">
            <a:pPr algn="l">
              <a:def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建制結果｜農禪寺 → 佛研所 → 法鼓山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6C1CBEDA-E521-491E-A902-15065422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339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強項：制度建設、人才養成、弘化平台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C55745F8-5D91-4F0E-9EE1-BC288D4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C3FA089D-11EB-4D34-9E02-B7BF3CD1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共同的是菩薩願行；分流的是實踐人格。</a:t>
            </a:r>
          </a:p>
        </p:txBody>
      </p:sp>
    </p:spTree>
    <p:extLst>
      <p:ext uri="{BB962C8B-B14F-4D97-AF65-F5344CB8AC3E}">
        <p14:creationId xmlns:p14="http://schemas.microsoft.com/office/powerpoint/2010/main" val="7631729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66bd9b815420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52F486AA-400F-4F49-AADE-21DB8EE0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3AC6FA7B-3873-4187-A602-6FBC0015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第三節（二）｜思想與人格的同異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B9CE66-CA49-45D4-9E73-0E0EC564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思想分流：抉擇與傳承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F2BD220-79EC-4C57-8308-FA8E94EC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B09F5B9A-BB58-4E79-A12A-F52A8EB2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408DA9-EA56-41CE-90D7-52A684CF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798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抉擇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949C439-7CFD-4B47-8EC1-D6B25AA4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383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798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傳承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90AE31C-40B2-4464-B467-F05C0874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49EA1E1-7065-482F-B5A4-9A09BA0B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76500"/>
            <a:ext cx="3619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3F13BD0-7354-4CB3-883D-CB4C4507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145692F-8CD9-45BB-A14F-F25E5889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14700"/>
            <a:ext cx="361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初期大乘／性空緣起</a:t>
            </a:r>
          </a:p>
          <a:p xmlns:a="http://schemas.openxmlformats.org/drawingml/2006/main">
            <a:pPr algn="ctr">
              <a:def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明其流變</a:t>
            </a:r>
          </a:p>
          <a:p xmlns:a="http://schemas.openxmlformats.org/drawingml/2006/main">
            <a:pPr algn="ctr">
              <a:def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對中國佛教作歷史抉擇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5169067-4D5A-40F2-BD3B-3C869E5E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C6E8728-2CA3-4103-BA9A-43B2CAF1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3619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漢傳禪／如來藏的修行意義</a:t>
            </a:r>
          </a:p>
          <a:p xmlns:a="http://schemas.openxmlformats.org/drawingml/2006/main">
            <a:pPr algn="ctr">
              <a:def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續其慧命</a:t>
            </a:r>
          </a:p>
          <a:p xmlns:a="http://schemas.openxmlformats.org/drawingml/2006/main">
            <a:pPr algn="ctr">
              <a:def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在傳承中更新</a:t>
            </a:r>
          </a:p>
        </p:txBody>
      </p:sp>
      <p:sp>
        <p:nvSpPr>
          <p:cNvPr id="15" name="shared-vow-ring">
            <a:extLst xmlns:a="http://schemas.openxmlformats.org/drawingml/2006/main">
              <a:ext uri="{FF2B5EF4-FFF2-40B4-BE49-F238E27FC236}">
                <a16:creationId xmlns:a16="http://schemas.microsoft.com/office/drawing/2014/main" id="{23816098-CE2B-437C-98A2-56B66CFF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19425"/>
            <a:ext cx="20002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BD8"/>
          </a:solidFill>
          <a:ln xmlns:a="http://schemas.openxmlformats.org/drawingml/2006/main" w="28575">
            <a:solidFill>
              <a:srgbClr val="B38A3E"/>
            </a:solidFill>
            <a:prstDash val="solid"/>
          </a:ln>
        </p:spPr>
      </p:sp>
      <p:sp>
        <p:nvSpPr>
          <p:cNvPr id="16" name="shared-vow-inner-ring">
            <a:extLst xmlns:a="http://schemas.openxmlformats.org/drawingml/2006/main">
              <a:ext uri="{FF2B5EF4-FFF2-40B4-BE49-F238E27FC236}">
                <a16:creationId xmlns:a16="http://schemas.microsoft.com/office/drawing/2014/main" id="{1096EA10-FEF1-4A1E-A18F-9450032C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1752600" cy="1104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A7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5004887-9CD8-4334-A347-202D0863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528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172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共同的</a:t>
            </a:r>
          </a:p>
          <a:p xmlns:a="http://schemas.openxmlformats.org/drawingml/2006/main">
            <a:pPr algn="ctr">
              <a:defRPr sz="172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172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菩薩願行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C554E1DA-D2B4-498B-898C-0A01577F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1826E8DF-F2EE-4318-8F04-EBF0AB85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「不即」不是隔絕，而是思想宗本不同。</a:t>
            </a:r>
          </a:p>
        </p:txBody>
      </p:sp>
    </p:spTree>
    <p:extLst>
      <p:ext uri="{BB962C8B-B14F-4D97-AF65-F5344CB8AC3E}">
        <p14:creationId xmlns:p14="http://schemas.microsoft.com/office/powerpoint/2010/main" val="13448052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1dc86c1e64446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4EAE594-3EF5-41B9-8418-6705CD50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089C757D-DEB6-4954-98A7-8C184D21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第四節｜跨越兩系的人物與事件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5924AA-B266-4173-BE72-A5C0B13E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第四節證據索引：三條建制路徑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646D188-E101-4310-99A5-9C5C613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2919D57E-9E6C-4469-8833-922F109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AB48ADB-BA98-4225-952F-14C37EBB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85925"/>
            <a:ext cx="285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CE9FA-A6C7-452A-BC13-8DEB0D4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847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AA792D3-8181-4100-8BA6-27EBBC99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431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4769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80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一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A5663B1-0DF3-43F6-9E16-6A84BB3B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097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跨系人物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4D3A681-3555-47A7-BD36-685FE738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24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李志夫、藍吉富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F54C306-25A0-4692-BFAB-8B1305C4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050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平台經營／學派命名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2C52E73-6C5C-4CBC-92C3-F0CFBE4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惠敏、清德、林建德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3E6AFE5-ADB5-4F82-8291-F7FCCBD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0502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跨系受學／教學／比較研究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B45623C9-C9B9-4DB7-8DD9-A9596E8C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58D50-9B56-4C3E-B83B-3875FB0E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289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9CEF162-8535-4126-B438-FF6207F1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2422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4769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80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829F93-5813-405A-92B6-8E85F0AB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90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印順法將接觸法鼓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E2E5A5A-9F27-482C-AD2C-386C47E1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05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厚觀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ED523CC-EFAB-4774-91E6-E7B29A4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86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佛研所養成 → 編校與數位化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62B35A5-C333-446A-82CF-C7164970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昭慧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E623A40-7195-4275-9EDC-2EC042F1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861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農禪寺講課／東初出版／法誼往來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5FB8BD69-9979-4E08-8820-F4583F25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05275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8472A1-EB42-4C24-9359-444F6D67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610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E5B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1AC764D-61BF-4D69-B2CB-D37E41A9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053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4769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80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三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CC8CF10-7B0A-4BB5-81AF-BCDAB38D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719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標誌性事件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4EED5C4-07A5-4C34-8520-A4108389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86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教育機構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F62D022-A01E-4794-A2D1-81AD6214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672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人才養成制度化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AD2292E-C20C-46E4-9283-835EDC26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86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CBETA／研討會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A8D17B54-E4AB-4242-B292-C1C33BAF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672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知識數位化／議題公共化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1FEEBBF3-93C5-4E54-B4FE-65C3F0D4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keaway">
            <a:extLst xmlns:a="http://schemas.openxmlformats.org/drawingml/2006/main">
              <a:ext uri="{FF2B5EF4-FFF2-40B4-BE49-F238E27FC236}">
                <a16:creationId xmlns:a16="http://schemas.microsoft.com/office/drawing/2014/main" id="{8F5F8BC9-6FF1-4671-9A75-CA58A476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學派不是封閉家譜；關鍵在於資源如何被導入「研究印順」的社群。</a:t>
            </a:r>
          </a:p>
        </p:txBody>
      </p:sp>
    </p:spTree>
    <p:extLst>
      <p:ext uri="{BB962C8B-B14F-4D97-AF65-F5344CB8AC3E}">
        <p14:creationId xmlns:p14="http://schemas.microsoft.com/office/powerpoint/2010/main" val="17496389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ea556d1eae437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09BD31B-1F9C-4280-81B7-6EBEC620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244CBA00-BA0F-4754-A7CB-027924A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第四節（一）｜跨越兩系統的人物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DA65EB-15B6-47BE-AB44-34F58087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第一批橋梁：李志夫與藍吉富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7083FA3-4EAE-4940-B5A4-AE53215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80BE6F82-D1F5-410D-9B8F-B3FABCC7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B7FCAF2-F20F-4423-B746-507AC44A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59989BA-83BB-4A9F-8079-7C96A8B5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495300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E02CBA-B52D-4D34-9D35-5D0AC393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李志夫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3CCD837-0C67-4D66-877A-4A1D8CA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打造平台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0D1A30E-CAC1-4A0B-B232-BF256FA9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3924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1965–66　聽印順授課</a:t>
            </a:r>
          </a:p>
          <a:p xmlns:a="http://schemas.openxmlformats.org/drawingml/2006/main">
            <a:pPr algn="l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1978　　 推薦聖嚴主持佛研所</a:t>
            </a:r>
          </a:p>
          <a:p xmlns:a="http://schemas.openxmlformats.org/drawingml/2006/main">
            <a:pPr algn="l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1985/96　參與創所並接任所長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2BED72F-8A87-4D3F-92CF-21A55A6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426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藍吉富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BAEA8B3-DCE8-45C1-B90B-B983A89B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提供概念語言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F8F1A62-AE0B-4F6D-A10E-42BE3D2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71850"/>
            <a:ext cx="3924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任教　　 中華佛學研究所</a:t>
            </a:r>
          </a:p>
          <a:p xmlns:a="http://schemas.openxmlformats.org/drawingml/2006/main">
            <a:pPr algn="l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命名　　 印順學派／後印順時代</a:t>
            </a:r>
          </a:p>
          <a:p xmlns:a="http://schemas.openxmlformats.org/drawingml/2006/main">
            <a:pPr algn="l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2001　　《印順‧呂澂佛學辭典》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4B504AA-CB08-4E99-924C-B03EFBE3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keaway">
            <a:extLst xmlns:a="http://schemas.openxmlformats.org/drawingml/2006/main">
              <a:ext uri="{FF2B5EF4-FFF2-40B4-BE49-F238E27FC236}">
                <a16:creationId xmlns:a16="http://schemas.microsoft.com/office/drawing/2014/main" id="{871EACF4-6D9F-48DA-A1E8-7D0483E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一人打造平台，一人提供學派自我描述的語言。</a:t>
            </a:r>
          </a:p>
        </p:txBody>
      </p:sp>
    </p:spTree>
    <p:extLst>
      <p:ext uri="{BB962C8B-B14F-4D97-AF65-F5344CB8AC3E}">
        <p14:creationId xmlns:p14="http://schemas.microsoft.com/office/powerpoint/2010/main" val="13463436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d018c9e494c3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117BDE71-C5D6-4773-A0A0-4434DD8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148A7159-9338-439D-907F-38C00669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第四節（一）｜跨越兩系統的人物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E60D67-4EE1-4951-BD19-F8CF3876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三種跨系路徑：惠敏、清德、林建德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497DE6D-6890-4D31-B786-D9D40BD9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38BCFB60-4944-4A49-80EB-0C63723A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192013B2-F3A5-4478-8BAA-0B95E3C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3543300" cy="38100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22BBA7-EE62-4D53-95F5-AD067C00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惠敏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AB3728A-7084-4E0D-85ED-8E89B664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起點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71B8E6-CFD9-473F-AB98-5FDC3EC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1982–85 中華佛研所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018C69DD-C054-4DA2-9921-877471F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FAB0702-4105-4CBE-956F-037ADB5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轉折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14DA55-6636-4066-AA23-9CF17FE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印順指導《中論》論文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A5279A8B-EA3D-444E-BA17-692EEA6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22910B3-CACE-43B5-A0E2-CE031265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成果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971862-E2C6-4F14-9D18-72A1B75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243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法鼓校長／十二法子之首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79E75067-8577-4847-910C-42085781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543300" cy="38100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482C46A-45F7-41B1-B97A-9ECA06C9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288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清德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90CDF4-887B-48F0-AE4C-A94CE403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47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起點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D07CC8F-4844-4453-B8ED-21E18D1D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479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聖嚴指導印順戒律碩論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1EEDF0E1-31E8-477A-AE51-306299D5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E733F7F-3951-449D-B37C-3D540CF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86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轉折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E85448B-CEEF-4C7A-A391-0B8C3028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861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2001、2022 律學專書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2C8F17DA-4CFD-4D0A-9082-DF00B203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148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3E18BC2-A52D-496C-B259-FD24CB0F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成果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25653EA-CB3B-4713-9A5F-D93225D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243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2010 起</a:t>
            </a:r>
          </a:p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《成佛之道》研習營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58ECCA0F-3AB7-42F8-B32E-216AD1B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3543300" cy="38100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D8E0E7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CBF4BD8-497C-4625-BE19-0FDA425F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288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97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林建德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4B544947-6428-4257-9D6A-0301880E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起點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E598547-2C52-4F10-869B-82C41241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479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農禪寺禪七與受菩薩戒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924BCD77-7036-47BE-80BA-5F222D60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766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53F5E74-3687-4538-B8D2-F3C68D11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轉折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B77DF54D-AE51-4837-8256-E07729CA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轉向捍衛、研究印順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B57F8C41-7693-43FE-B308-7EC32154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A53E40D-8A99-4D15-88E7-1B99ECB0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成果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03C2662-C00F-46E3-B7CE-C0B485B2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24350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專攻印順 × 聖嚴比較</a:t>
            </a:r>
          </a:p>
        </p:txBody>
      </p:sp>
      <p:sp>
        <p:nvSpPr>
          <p:cNvPr id="37" name="rule">
            <a:extLst xmlns:a="http://schemas.openxmlformats.org/drawingml/2006/main">
              <a:ext uri="{FF2B5EF4-FFF2-40B4-BE49-F238E27FC236}">
                <a16:creationId xmlns:a16="http://schemas.microsoft.com/office/drawing/2014/main" id="{1C8F645A-DADA-426E-8DB8-F08B815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akeaway">
            <a:extLst xmlns:a="http://schemas.openxmlformats.org/drawingml/2006/main">
              <a:ext uri="{FF2B5EF4-FFF2-40B4-BE49-F238E27FC236}">
                <a16:creationId xmlns:a16="http://schemas.microsoft.com/office/drawing/2014/main" id="{62C766C4-1D94-4A2F-840B-9AF9C70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受學聖嚴、宗仰印順、研究兩者，可以同時發生在同一條生命路徑中。</a:t>
            </a:r>
          </a:p>
        </p:txBody>
      </p:sp>
    </p:spTree>
    <p:extLst>
      <p:ext uri="{BB962C8B-B14F-4D97-AF65-F5344CB8AC3E}">
        <p14:creationId xmlns:p14="http://schemas.microsoft.com/office/powerpoint/2010/main" val="15786718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7893a85e2a49e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DF99644C-0F96-4CA5-A432-EBD45DF8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B6B34A36-1B78-44F0-B64B-2AAC4A07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第四節（二）｜印順學派法將與法鼓接觸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819F38-7731-441A-B101-2A114714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印順法將也曾穿越法鼓系統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C4CD45-030C-40BF-B1DF-9CA0F241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32FFAFB-5F13-4743-8051-AA2BCBC6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7B44A57F-8C76-466D-9688-DF74B179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4686300" cy="17716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B682707-40DF-463A-92E5-41377107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厚觀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31BBB96-9F2F-413A-BB8A-B1773219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3943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1982–85　就讀中華佛研所</a:t>
            </a:r>
          </a:p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1985　　 依止印順出家</a:t>
            </a:r>
          </a:p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其後　　 任教兩系、編校並數位化印順著作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58DF3E1E-EA8B-4AE8-A636-7040210C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468630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50FFC2-FD0F-42EA-B240-D5DBAD7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609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昭慧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23C40CC-4008-4967-B594-46EDBA1A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3943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曾在農禪寺講課；首部著作由東初出版社印行</a:t>
            </a:r>
          </a:p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聖嚴稱「小諍友」｜印順稱「小知音」</a:t>
            </a:r>
          </a:p>
          <a:p xmlns:a="http://schemas.openxmlformats.org/drawingml/2006/main">
            <a:pPr algn="l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理念有距離，法誼與出版合作仍相繫</a:t>
            </a:r>
          </a:p>
        </p:txBody>
      </p:sp>
      <p:sp>
        <p:nvSpPr>
          <p:cNvPr id="13" name="image-frame">
            <a:extLst xmlns:a="http://schemas.openxmlformats.org/drawingml/2006/main">
              <a:ext uri="{FF2B5EF4-FFF2-40B4-BE49-F238E27FC236}">
                <a16:creationId xmlns:a16="http://schemas.microsoft.com/office/drawing/2014/main" id="{CE4CE180-201D-42D9-BD9A-0DF305F9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66850"/>
            <a:ext cx="5905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2778f8ca84240"/>
          <a:srcRect xmlns:a="http://schemas.openxmlformats.org/drawingml/2006/main" l="0" t="15591" r="0" b="155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7850" y="1466850"/>
            <a:ext cx="590550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15" name="calligraphy-highlight">
            <a:extLst xmlns:a="http://schemas.openxmlformats.org/drawingml/2006/main">
              <a:ext uri="{FF2B5EF4-FFF2-40B4-BE49-F238E27FC236}">
                <a16:creationId xmlns:a16="http://schemas.microsoft.com/office/drawing/2014/main" id="{B1A0B4D0-0FFA-4430-BB79-31C4DD67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619250"/>
            <a:ext cx="428625" cy="2609850"/>
          </a:xfrm>
          <a:prstGeom xmlns:a="http://schemas.openxmlformats.org/drawingml/2006/main" prst="roundRect">
            <a:avLst>
              <a:gd name="adj" fmla="val 666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44728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48AB8C-21E4-4838-913D-7BA5BB4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聖嚴墨寶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A44E045-E8E0-42ED-A03F-A2951126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187642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0756C4D4-E988-407D-AE9C-CDE0135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619750" cy="9334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EBD8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E519DC-E075-44B7-9983-BE1832CC4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14875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061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F5D50"/>
                </a:solidFill>
                <a:latin typeface="DFKai-SB"/>
                <a:ea typeface="DFKai-SB"/>
                <a:cs typeface="DFKai-SB"/>
              </a:defRPr>
            </a:pPr>
            <a:r>
              <a:rPr sz="1650" b="1" i="0">
                <a:solidFill>
                  <a:srgbClr val="2F5D50"/>
                </a:solidFill>
                <a:latin typeface="DFKai-SB"/>
                <a:ea typeface="DFKai-SB"/>
                <a:cs typeface="DFKai-SB"/>
              </a:rPr>
              <a:t>「本著精衛銜石的精神……」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D67598C-8828-4802-A1FF-07356B59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0673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聖嚴法師書｜內容引自印順導師語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830436-3934-41BD-9590-A533339C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054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2001 法印樓落成時致贈｜照片攝於 2002-11-15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F18BAFB-130B-4FFA-933D-39793D64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6007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張辰瑋提供並授權使用｜111504-聖嚴墨寶.JPG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89E6B235-D662-4542-9B9B-08EC2D7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ACFD3141-E4C5-4074-BD73-A70D22BD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法鼓提供養成與出版平台；印順法將則把這些資源轉化為研究、典藏與弘化。</a:t>
            </a:r>
          </a:p>
        </p:txBody>
      </p:sp>
    </p:spTree>
    <p:extLst>
      <p:ext uri="{BB962C8B-B14F-4D97-AF65-F5344CB8AC3E}">
        <p14:creationId xmlns:p14="http://schemas.microsoft.com/office/powerpoint/2010/main" val="8607399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2116221d346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224FEFAD-D32A-46A7-91BA-5E25020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C79C60E-91AF-4F25-8B37-A991EDA1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第四節（三）｜三樁標誌性事件（一）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3E2CD2-F821-4759-A466-BAD2D4C7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教育建制：把個人興趣變成可持續研究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3589D0-1E3F-483C-9E8C-EC098668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8AFB8A5E-5D3F-447F-8921-A164BBB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0045122-C11F-40A3-880C-E2ECFAF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80DB634-47DC-49B7-B47F-A924B33C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4539F-8A32-4F03-973A-6D1F4A3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66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D50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44AC9A-19A2-4608-A36E-60174356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52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一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6AB309B-EDEF-48EE-A82D-23273DEE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招生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9C39FE-D5BC-4E80-AF42-D3A1283D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中華佛研所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E5612538-D407-430F-8954-D469C454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72769F-7A29-44EB-B893-9704D93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高教青年進入</a:t>
            </a:r>
          </a:p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佛學研究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7E953D6-DE53-4ED9-9511-53C178FC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D2B47-D1EA-4FAE-8384-E1FD824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66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B26F411-16ED-4428-B7E9-EB9F5CAC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12615E-CBC0-4B00-9D7B-93E3F1D7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指導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D661853-07EE-4C4A-96FC-DE77CDC2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3372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聖嚴／印順跨系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56EA93A4-4C94-4D93-AF1A-8454B749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290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F8750BE-78C1-4A49-9A51-BD643256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481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方法與宗派邊界</a:t>
            </a:r>
          </a:p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可以分離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BF9B4F0-1D3F-4323-82A8-EA90E2F6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BC718-6CEF-4947-A87F-02FEAF0F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66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A2980EF-CBD4-4F68-8FBC-7909A3A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52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三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698595C-1E8E-4879-A36A-6CB7C5C4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學位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2EE37FF-F5D8-46FB-9B7C-D1D5ED5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3372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清德研究印順律學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CC68A12B-841A-4D5E-B2E9-49A3F5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290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F1D1611-1394-4865-B1AB-099C9FD5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481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興趣成為可檢驗的</a:t>
            </a:r>
          </a:p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論文與專書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7801254-961D-4185-B83C-FBB8ABC5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A1602-A882-4195-8D32-C55A21A5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66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B156F780-34D4-41B6-A0C2-117D83AB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四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46A7554-CC74-4105-A694-A197E73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任教／出版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C46F4C3-2F27-41AF-A698-2D9430E0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3372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惠敏、厚觀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45DAEAFE-6D5F-46C6-B331-B1CC44F7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3152221-31DF-4744-BB2F-85974877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481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研究進入課程、</a:t>
            </a:r>
          </a:p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編校與典藏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8C8489E-212C-46C8-8B82-9BB6693A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6945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6C62F-2257-4138-B055-5460C3F8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866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7C73B92A-073B-4E33-9677-0E57A776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52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883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defRPr>
            </a:pPr>
            <a:r>
              <a:rPr sz="1650" b="1" i="0">
                <a:solidFill>
                  <a:srgbClr val="FFFDF7"/>
                </a:solidFill>
                <a:latin typeface="DFKai-SB"/>
                <a:ea typeface="DFKai-SB"/>
                <a:cs typeface="DFKai-SB"/>
              </a:rPr>
              <a:t>五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F3D9A56-BFE2-4429-B752-3F04F136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下一代研究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3069277-5344-4535-9548-645BAADF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133725"/>
            <a:ext cx="1847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林建德、德晟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45CB0F93-F666-4FCC-80AE-495483FD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29050"/>
            <a:ext cx="1390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983D721B-53B6-4726-886F-E7DB87F1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481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比較研究持續</a:t>
            </a:r>
          </a:p>
          <a:p xmlns:a="http://schemas.openxmlformats.org/drawingml/2006/main">
            <a:pPr algn="ctr">
              <a:def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生產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DCC6FF89-E9DA-4C22-924C-0314D84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6743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研究成果再進入課程與新生養成，形成下一輪循環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D11C0FC3-CF76-4D72-B3E7-D2B909F2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1054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596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↶</a:t>
            </a:r>
          </a:p>
        </p:txBody>
      </p:sp>
    </p:spTree>
    <p:extLst>
      <p:ext uri="{BB962C8B-B14F-4D97-AF65-F5344CB8AC3E}">
        <p14:creationId xmlns:p14="http://schemas.microsoft.com/office/powerpoint/2010/main" val="11296571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1ce9ed26142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C68B1CDF-E63D-49B7-98EA-67D848F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CBBE4DF-6FE0-4836-9522-2D93557B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第四節（三）｜CBETA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3358AE-136E-4D9D-8A60-B9C8AE7D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CBETA：共同願力成為基礎建設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070D1F-7AEA-4F24-8714-939E6A2E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9F1D84-9AFA-44B4-899D-2EE01C69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090AE2A9-C17F-4ABB-80BB-59D0058C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3905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DC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DCA528E3-9559-46A7-9703-0E54977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905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EBD6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26181CB-3359-4593-8A30-AEDE381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印順側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0642B1F-CA55-4C39-B06D-F60B45D7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30289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北美印順基金會</a:t>
            </a:r>
          </a:p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連續五年、共 100 萬美元</a:t>
            </a:r>
          </a:p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印順任副主委</a:t>
            </a:r>
          </a:p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厚觀整理著作，收入 Y 輯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D3AFE90-FCC4-4F0C-AE95-C9A9EB4F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法鼓側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EA75991-74BC-4CC6-B019-ADF9C7D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0289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1998 惠敏、李志夫、杜正民</a:t>
            </a:r>
          </a:p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向聖嚴說明計畫</a:t>
            </a:r>
          </a:p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聖嚴指示全力支持</a:t>
            </a:r>
          </a:p>
          <a:p xmlns:a="http://schemas.openxmlformats.org/drawingml/2006/main">
            <a:pPr algn="ctr">
              <a:def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佛研所提供建制與人力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E58BE06F-2680-4A92-BD12-BB4181E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43150"/>
            <a:ext cx="2381250" cy="194310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272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E9FAE9D-8C5E-4661-B436-6DD3C40D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38425"/>
            <a:ext cx="1619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DCE5D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DCE5D9"/>
                </a:solidFill>
                <a:latin typeface="Microsoft JhengHei"/>
                <a:ea typeface="Microsoft JhengHei"/>
                <a:cs typeface="Microsoft JhengHei"/>
              </a:rPr>
              <a:t>1998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F140B69-34A0-43DA-9D22-8A05A199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95625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598"/>
          </a:bodyPr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FFFDF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 i="0">
                <a:solidFill>
                  <a:srgbClr val="FFFDF7"/>
                </a:solidFill>
                <a:latin typeface="Microsoft JhengHei"/>
                <a:ea typeface="Microsoft JhengHei"/>
                <a:cs typeface="Microsoft JhengHei"/>
              </a:rPr>
              <a:t>CBETA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F25F9A-9E28-4A10-9F6D-ECD9F86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76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DF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FFFDF7"/>
                </a:solidFill>
                <a:latin typeface="Microsoft JhengHei"/>
                <a:ea typeface="Microsoft JhengHei"/>
                <a:cs typeface="Microsoft JhengHei"/>
              </a:rPr>
              <a:t>漢文佛典數位化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979C044-474F-4B8A-B67D-CD87CFAE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051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F310B4D7-53B7-4C9C-821A-DEB32A24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0517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1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B068B78-EC45-4484-A5D4-C6FD53E7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027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7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keaway">
            <a:extLst xmlns:a="http://schemas.openxmlformats.org/drawingml/2006/main">
              <a:ext uri="{FF2B5EF4-FFF2-40B4-BE49-F238E27FC236}">
                <a16:creationId xmlns:a16="http://schemas.microsoft.com/office/drawing/2014/main" id="{66C36CA7-355E-4C2B-9C11-B1471C7B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共同知識工程，讓研究可以被搜尋、引用、累積。</a:t>
            </a:r>
          </a:p>
        </p:txBody>
      </p:sp>
    </p:spTree>
    <p:extLst>
      <p:ext uri="{BB962C8B-B14F-4D97-AF65-F5344CB8AC3E}">
        <p14:creationId xmlns:p14="http://schemas.microsoft.com/office/powerpoint/2010/main" val="4462461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EB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91ac3bb88849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8757692A-0FF9-4FB2-A022-336AD5CA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0BC3E58-1818-4215-BBEA-EE70DE43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第四節（三）｜三樁標誌性事件（三）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846FF-F761-4EFC-A279-4D89927E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07156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2850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標誌事件三：研討會把印順變成共同議題</a:t>
            </a:r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1E873F-9D0C-4D12-B982-CA1E1991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AC8F9061-A806-4BAE-9A6C-08019DA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484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A214D4A0-BA83-470E-A8B0-7F9B37F9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95425"/>
            <a:ext cx="3638550" cy="4429125"/>
          </a:xfrm>
          <a:prstGeom xmlns:a="http://schemas.openxmlformats.org/drawingml/2006/main" prst="roundRect">
            <a:avLst>
              <a:gd name="adj" fmla="val 4712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4BC7E65-67D2-4D2A-9714-D9EFF072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167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2000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93D4D2C-1AE0-46F4-BFE8-15B50B71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276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「印順思想：</a:t>
            </a:r>
          </a:p>
          <a:p xmlns:a="http://schemas.openxmlformats.org/drawingml/2006/main">
            <a:pPr algn="l">
              <a:def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邁向2000年」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BE59F9E-E15C-4AD2-A7A8-ECDA112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574A"/>
                </a:solidFill>
                <a:latin typeface="Microsoft JhengHei"/>
                <a:ea typeface="Microsoft JhengHei"/>
                <a:cs typeface="Microsoft JhengHei"/>
              </a:rPr>
              <a:t>佛教學術研討會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D23B19FC-D928-47C1-A8D1-C5EC5F02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76BE9DB-1E86-4C32-BA07-05C84EED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1988　聖嚴評介印順思想</a:t>
            </a:r>
          </a:p>
          <a:p xmlns:a="http://schemas.openxmlformats.org/drawingml/2006/main">
            <a:pPr algn="l">
              <a:def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1991　護教思想與現代社會</a:t>
            </a:r>
          </a:p>
          <a:p xmlns:a="http://schemas.openxmlformats.org/drawingml/2006/main">
            <a:pPr algn="l">
              <a:def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1995　法鼓 × 佛教青年基金會</a:t>
            </a:r>
          </a:p>
          <a:p xmlns:a="http://schemas.openxmlformats.org/drawingml/2006/main">
            <a:pPr algn="l">
              <a:def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2000　真常唯心論的正式商榷</a:t>
            </a:r>
          </a:p>
          <a:p xmlns:a="http://schemas.openxmlformats.org/drawingml/2006/main">
            <a:pPr algn="l">
              <a:def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2004　弘誓、法鼓、佛光、慈濟合辦</a:t>
            </a:r>
          </a:p>
          <a:p xmlns:a="http://schemas.openxmlformats.org/drawingml/2006/main">
            <a:pPr algn="l">
              <a:def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2012　印順 × 聖嚴比較進入議程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56ECD60-AAB2-4FEB-B3F9-E7ED545C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商榷，也使印順成為跨教團的共同議題</a:t>
            </a:r>
          </a:p>
        </p:txBody>
      </p:sp>
      <p:sp>
        <p:nvSpPr>
          <p:cNvPr id="14" name="image-frame">
            <a:extLst xmlns:a="http://schemas.openxmlformats.org/drawingml/2006/main">
              <a:ext uri="{FF2B5EF4-FFF2-40B4-BE49-F238E27FC236}">
                <a16:creationId xmlns:a16="http://schemas.microsoft.com/office/drawing/2014/main" id="{1432B311-1000-450F-AB12-732F0D3D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38275"/>
            <a:ext cx="6477000" cy="485775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0c637d08f4f8e"/>
          <a:stretch xmlns:a="http://schemas.openxmlformats.org/drawingml/2006/main"/>
        </p:blipFill>
        <p:spPr>
          <a:xfrm xmlns:a="http://schemas.openxmlformats.org/drawingml/2006/main">
            <a:off x="4762500" y="1527917"/>
            <a:ext cx="6477000" cy="4678466"/>
          </a:xfrm>
          <a:prstGeom xmlns:a="http://schemas.openxmlformats.org/drawingml/2006/main" prst="roundRect">
            <a:avLst>
              <a:gd name="adj" fmla="val 3137"/>
            </a:avLst>
          </a:prstGeom>
        </p:spPr>
      </p:pic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DC15076-0423-4F17-9F96-FFC541B3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3912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使用者 Drive 圖片｜完整保留會議布條</a:t>
            </a:r>
          </a:p>
        </p:txBody>
      </p:sp>
    </p:spTree>
    <p:extLst>
      <p:ext uri="{BB962C8B-B14F-4D97-AF65-F5344CB8AC3E}">
        <p14:creationId xmlns:p14="http://schemas.microsoft.com/office/powerpoint/2010/main" val="16657242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75352d63349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ule">
            <a:extLst xmlns:a="http://schemas.openxmlformats.org/drawingml/2006/main">
              <a:ext uri="{FF2B5EF4-FFF2-40B4-BE49-F238E27FC236}">
                <a16:creationId xmlns:a16="http://schemas.microsoft.com/office/drawing/2014/main" id="{E10DD66F-CCEB-40B7-B139-B05856BD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8100" cy="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8CCA746-4CC7-43EA-8D2A-9178FC01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第五節｜結論：不即不離的共願者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2C0F3F0-0B69-4092-8B64-E67FF15E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541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272118"/>
                </a:solidFill>
                <a:latin typeface="DFKai-SB"/>
                <a:ea typeface="DFKai-SB"/>
                <a:cs typeface="DFKai-SB"/>
              </a:defRPr>
            </a:pPr>
            <a:r>
              <a:rPr sz="3075" b="1" i="0">
                <a:solidFill>
                  <a:srgbClr val="272118"/>
                </a:solidFill>
                <a:latin typeface="DFKai-SB"/>
                <a:ea typeface="DFKai-SB"/>
                <a:cs typeface="DFKai-SB"/>
              </a:rPr>
              <a:t>結論：不即不離的共願者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F5ED6AE-74BC-454A-BC92-B0EE5711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 i="0">
                <a:solidFill>
                  <a:srgbClr val="B38A3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51D0652-63E4-479C-9CAD-BD03A02E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A44728"/>
                </a:solidFill>
                <a:latin typeface="Microsoft JhengHei"/>
                <a:ea typeface="Microsoft JhengHei"/>
                <a:cs typeface="Microsoft JhengHei"/>
              </a:rPr>
              <a:t>不即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02CD65-22E8-4FC5-A4E0-2833A909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沒有師承從屬；思想宗本與宗教人格分流；</a:t>
            </a:r>
          </a:p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法鼓後來也發展自身的「聖嚴學」。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3149A0F-D551-4905-B07D-682FFCDA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9825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F17534-8D50-45A7-B34B-2A0153E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309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不離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57C568D-B0AA-4CDE-8575-C3300C4F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289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博士典範、教育平台與人才流動，</a:t>
            </a:r>
          </a:p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加上 CBETA、研討會與出版，共同形塑學派。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30FBA8E2-598D-4035-B309-0737469E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672CB9C-018E-40F1-8F47-60791805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263E5B"/>
                </a:solidFill>
                <a:latin typeface="Microsoft JhengHei"/>
                <a:ea typeface="Microsoft JhengHei"/>
                <a:cs typeface="Microsoft JhengHei"/>
              </a:rPr>
              <a:t>史學意義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81F2951-8180-460B-945F-01D12F5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743325"/>
            <a:ext cx="3886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學派並非封閉宗門的自我繁衍，</a:t>
            </a:r>
          </a:p>
          <a:p xmlns:a="http://schemas.openxmlformats.org/drawingml/2006/main">
            <a:pPr algn="l">
              <a:def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而是由異質而有力的他者共同編織。</a:t>
            </a:r>
          </a:p>
        </p:txBody>
      </p:sp>
      <p:sp>
        <p:nvSpPr>
          <p:cNvPr id="14" name="box">
            <a:extLst xmlns:a="http://schemas.openxmlformats.org/drawingml/2006/main">
              <a:ext uri="{FF2B5EF4-FFF2-40B4-BE49-F238E27FC236}">
                <a16:creationId xmlns:a16="http://schemas.microsoft.com/office/drawing/2014/main" id="{99BF1265-8FF2-4F3A-B5DA-B67596D8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162550" cy="10668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507AE33-0AD7-4E2F-B5B0-95C74917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387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22364F"/>
                </a:solidFill>
                <a:latin typeface="DFKai-SB"/>
                <a:ea typeface="DFKai-SB"/>
                <a:cs typeface="DFKai-SB"/>
              </a:defRPr>
            </a:pPr>
            <a:r>
              <a:rPr sz="1950" b="1" i="0">
                <a:solidFill>
                  <a:srgbClr val="22364F"/>
                </a:solidFill>
                <a:latin typeface="DFKai-SB"/>
                <a:ea typeface="DFKai-SB"/>
                <a:cs typeface="DFKai-SB"/>
              </a:rPr>
              <a:t>「君子之交淡如水，不即不離。」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E55B68E-0977-4E51-BC5C-EF2CCE2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道路不同，仍能在互補之處相互成就。</a:t>
            </a:r>
          </a:p>
        </p:txBody>
      </p:sp>
      <p:sp>
        <p:nvSpPr>
          <p:cNvPr id="17" name="image-frame">
            <a:extLst xmlns:a="http://schemas.openxmlformats.org/drawingml/2006/main">
              <a:ext uri="{FF2B5EF4-FFF2-40B4-BE49-F238E27FC236}">
                <a16:creationId xmlns:a16="http://schemas.microsoft.com/office/drawing/2014/main" id="{B85D27E4-2D92-4D4B-BB0F-392596A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90550"/>
            <a:ext cx="60769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0CC"/>
          </a:solidFill>
          <a:ln xmlns:a="http://schemas.openxmlformats.org/drawingml/2006/main" w="9525">
            <a:solidFill>
              <a:srgbClr val="B38A3E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54a93fe3c249bc"/>
          <a:stretch xmlns:a="http://schemas.openxmlformats.org/drawingml/2006/main"/>
        </p:blipFill>
        <p:spPr>
          <a:xfrm xmlns:a="http://schemas.openxmlformats.org/drawingml/2006/main">
            <a:off x="6115050" y="883444"/>
            <a:ext cx="6076950" cy="4557713"/>
          </a:xfrm>
          <a:prstGeom xmlns:a="http://schemas.openxmlformats.org/drawingml/2006/main" prst="rect">
            <a:avLst/>
          </a:prstGeom>
        </p:spPr>
      </p:pic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9004CFD8-C0A5-4985-9D31-11AD451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48350"/>
            <a:ext cx="6076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52F95D5-2629-4802-85C0-34D00FA6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00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2F5D50"/>
                </a:solidFill>
                <a:latin typeface="Microsoft JhengHei"/>
                <a:ea typeface="Microsoft JhengHei"/>
                <a:cs typeface="Microsoft JhengHei"/>
              </a:rPr>
              <a:t>匾額與紀念室全景完整保留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3029F518-DA60-46E0-925B-AA13F09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3436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 i="0">
                <a:solidFill>
                  <a:srgbClr val="272118"/>
                </a:solidFill>
                <a:latin typeface="Microsoft JhengHei"/>
                <a:ea typeface="Microsoft JhengHei"/>
                <a:cs typeface="Microsoft JhengHei"/>
              </a:rPr>
              <a:t>弘誓學院「印順導師紀念室」｜使用者 Drive 圖片</a:t>
            </a:r>
          </a:p>
        </p:txBody>
      </p:sp>
    </p:spTree>
    <p:extLst>
      <p:ext uri="{BB962C8B-B14F-4D97-AF65-F5344CB8AC3E}">
        <p14:creationId xmlns:p14="http://schemas.microsoft.com/office/powerpoint/2010/main" val="1193612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2026-08-09T04:22:19.8950000Z</dcterms:created>
  <dcterms:modified xsi:type="dcterms:W3CDTF">2026-08-09T04:22:19.8950000Z</dcterms:modified>
</coreProperties>
</file>